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Bìa. DEPTH gộp 2 lối suy luận trên TKG; deck đi sâu lý thuyết + 1 ví dụ số chạy xuyên suốt.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Mục lục. 4 phần; nhấn rằng có 1 ví dụ số theo suốt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Định nghĩa bài toán &amp; ký hiệu. Nói rõ extrapolation (dự đoán tương lai), metric, kích thước N,d,K. Giới thiệu 2 họ phương pháp mà DEPTH gộp.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Giới thiệu ví dụ số: (USA, Sanction, ?, Iran). 4 ứng viên. Báo trước câu chuyện: embedding đoán nhầm Russia, path tìm ra Iran, fusion sửa lại. Ví dụ này quay lại ở slide 12, 18, 20.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Chuyển sang LogCL: trình bày 2 vấn đề paper nhắm tới, 3 thành phần kiến trúc, ví dụ end-to-end và kết quả.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Hai vấn đề: (1) lịch sử liên quan tới query bị bỏ qua vì model cũ chỉ trọng snapshot gần; (2) yếu trước noise — RE-GCN sụt 63.8% MRR khi thêm Gaussian noise. LogCL khắc phục bằng entity-aware attention + contrastive.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Sơ đồ (vẽ lại theo SVG): TKG → Local Encoder (R-GCN Local → GRU → Entity-Aware Attention) và Global Encoder (subgraph 1+2hop → R-GCN Global → Entity Attention); cả hai vào Contrast Module; sinh L_cl (chống noise) + L_tkg (dự đoán) → L = L_tkg + L_cl.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Thành phần 1 (Local): R-GCN local + time-enc cos(dw+b); GRU nối snapshot; Entity-Aware Attention tính αᵢ theo việc entity query có liên quan snapshot — phần MỚI, đóng góp lớn nhất (ablation -8~10% nếu bỏ).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Thành phần 2 (Global): xây subgraph lịch sử 1-hop+2-hop quanh entity query, R-GCN global + attention chọn phần liên quan. Bắt pattern lặp lại từ xa. Ví dụ China: đối tác hợp tác lâu dài, sự kiện 'họp bàn' chuẩn bị.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Thành phần 3 (Contrastive): ép biểu diễn cùng query từ local &amp; global giống nhau (dương), query khác thì khác (âm); 4 loss Llg/Lgl/Lll/Lgg. Chống noise vì global ổn định kéo local học đặc trưng bền.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Ví dụ end-to-end (China, Cooperate): local — tq-2 China vắng α thấp, tq-1 'Make a visit' α cao → h_tq; global — subgraph đối tác lâu dài → h_g; prediction kết hợp λ≈0.9 thiên local → ConvTransE → xác suất mọi entity.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Kết quả: MRR vượt HisMatch 4.9–7.9% trên 4 dataset, bền noise hơn. Ablation: bỏ global -4~5%; bỏ entity-aware attention -8~10% (lớn nhất); bỏ contrastive ít ảnh hưởng lúc thường nhưng tụt rõ khi có noise.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Chuyển sang DEPTH — mô hình đề xuất, trình bày song song với LogCL: động lực, sơ đồ, 3 thành phần, ví dụ, ablation.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Động lực DEPTH: nhúng (dày, thống kê, transductive, thiên lệch phổ biến) và đường (thưa, cấu trúc, inductive) bù nhau; lỗi trực giao nên gộp thì hợp hai tập đúng lớn hơn.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Sơ đồ DEPTH (song song style LogCL): TKG → Shared Backbone (H[N×d], emb_rel chung) → Head A (ConvTransE→S_embed dày) ‖ Head B (boundary→L hop→S_path thưa) → Fusion S=S_embed+γz(S_path) → softmax→ranking; loss end-to-end L=L_object+L_cl+L_static.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Thành phần 1: backbone chung (H[N×d]) + emb_rel chung; Head A = ConvTransE của LogCL → S_embed dày. Ví dụ: Iran #3.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Thành phần 2 (Head B): công thức boundary 1[v=s]W_b r; layer agg=(1/deg)Σ h_u⊙W_r r, h=ReLU(W[agg;h])+boundary; score w_out·h^L. Inductive, nhẹ. Mini graph: USA→Israel/IAEA→Iran, hai đường → S_path[Iran]=3.0→z+2.6; Russia/China=0.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Thành phần 3 (Fusion): S=S_embed+γz(S_path); z-norm theo hàng; γ init 0 = sàn LogCL; end-to-end. Loss tổng.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Payoff: bảng S_embed | z(S_path) | fused. Iran 2.10→2.62 (#1); Russia 2.40→2.38. Lật #3→#1 nhờ nhánh đường.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Tích hợp kỹ thuật: sửa src/rrgcn.py — thêm PathHead (relation-only, dim32 L2) dùng chung emb_rel; trong get_loss/predict cộng S=S_embed+γ·z_norm(S_path) trước softmax; loss=NLL+L_cl+L_static; backward end-to-end, không freeze path. PathHead: boundary 1[v=s]W_b·R[r], lan 2 hop, score w_out·h^L.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Ablation: γ=0 (tắt path) = LogCL 0.491; bật path (DEPTH) 0.527 → +2.9 MRR là đóng góp Head B. Chi phí gọn: 1 mô hình, path nhẹ dim32 L2, không precompute.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Chuyển phần lý do + số liệu.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 cơ chế kỹ thuật: (1) complementary inductive bias; (2) error decorrelation (ensemble-in-one); (3) gradient-coupled residual learning (γ=0+end-to-end, kiểu boosting); (4) multi-task regularization qua chia sẻ emb_rel; (5) bổ trợ precision-recall (dense×sparse) → tăng Hits@1 lẫn MRR.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Bảng kết quả ICEWS14, 4 chỉ số, 3 mô hình + 2 dòng delta. DEPTH thắng tất cả. Tái lập paper khớp → đáng tin.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Kết luận 3 ý + lưu ý trung thực về transductive.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2A8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CADCFC"/>
                </a:solidFill>
                <a:latin typeface="Calibri"/>
              </a:rPr>
              <a:t>TEMPORAL KNOWLEDGE GRAPH EXTRAPOLATION  ·  ICEWS14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83080"/>
            <a:ext cx="106070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200" b="1" i="0">
                <a:solidFill>
                  <a:srgbClr val="FFFFFF"/>
                </a:solidFill>
                <a:latin typeface="Georgia"/>
              </a:rPr>
              <a:t>DEPTH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154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1">
                <a:solidFill>
                  <a:srgbClr val="E8A33D"/>
                </a:solidFill>
                <a:latin typeface="Georgia"/>
              </a:rPr>
              <a:t>Dual Evolution–Path Temporal Reasoning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886200"/>
            <a:ext cx="10424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CADCFC"/>
                </a:solidFill>
                <a:latin typeface="Calibri"/>
              </a:rPr>
              <a:t>Hợp nhất </a:t>
            </a:r>
            <a:r>
              <a:rPr sz="1600" b="1" i="0">
                <a:solidFill>
                  <a:srgbClr val="FFFFFF"/>
                </a:solidFill>
                <a:latin typeface="Calibri"/>
              </a:rPr>
              <a:t>suy luận theo tiến hóa nhúng</a:t>
            </a:r>
            <a:r>
              <a:rPr sz="1600" b="0" i="0">
                <a:solidFill>
                  <a:srgbClr val="CADCFC"/>
                </a:solidFill>
                <a:latin typeface="Calibri"/>
              </a:rPr>
              <a:t> và </a:t>
            </a:r>
            <a:r>
              <a:rPr sz="1600" b="1" i="0">
                <a:solidFill>
                  <a:srgbClr val="FFFFFF"/>
                </a:solidFill>
                <a:latin typeface="Calibri"/>
              </a:rPr>
              <a:t>suy luận theo đường quan hệ</a:t>
            </a:r>
            <a:r>
              <a:rPr sz="1600" b="0" i="0">
                <a:solidFill>
                  <a:srgbClr val="CADCFC"/>
                </a:solidFill>
                <a:latin typeface="Calibri"/>
              </a:rPr>
              <a:t> — huấn luyện end-to-end.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5074920"/>
            <a:ext cx="2286000" cy="457200"/>
          </a:xfrm>
          <a:prstGeom prst="roundRect">
            <a:avLst/>
          </a:prstGeom>
          <a:solidFill>
            <a:srgbClr val="3B6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5074920"/>
            <a:ext cx="2286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Nhánh Nhúng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6120" y="5074920"/>
            <a:ext cx="2286000" cy="457200"/>
          </a:xfrm>
          <a:prstGeom prst="roundRect">
            <a:avLst/>
          </a:prstGeom>
          <a:solidFill>
            <a:srgbClr val="12A8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46120" y="5074920"/>
            <a:ext cx="2286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Nhánh Đường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0" y="5074920"/>
            <a:ext cx="2286000" cy="457200"/>
          </a:xfrm>
          <a:prstGeom prst="round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0" y="5074920"/>
            <a:ext cx="2286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14213D"/>
                </a:solidFill>
                <a:latin typeface="Calibri"/>
              </a:rPr>
              <a:t>Hợp nhất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202C44"/>
                </a:solidFill>
                <a:latin typeface="Georgia"/>
              </a:rPr>
              <a:t>Nội dung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40" y="1463040"/>
            <a:ext cx="10607040" cy="987552"/>
          </a:xfrm>
          <a:prstGeom prst="round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1560" y="1709928"/>
            <a:ext cx="502920" cy="502920"/>
          </a:xfrm>
          <a:prstGeom prst="ellipse">
            <a:avLst/>
          </a:prstGeom>
          <a:solidFill>
            <a:srgbClr val="1E2F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709928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74519" y="1627632"/>
            <a:ext cx="9052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202C44"/>
                </a:solidFill>
                <a:latin typeface="Georgia"/>
              </a:rPr>
              <a:t>Nền tảng &amp; ví dụ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74519" y="2029968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793"/>
                </a:solidFill>
                <a:latin typeface="Calibri"/>
              </a:rPr>
              <a:t>Bài toán, ký hiệu, và ví dụ số dùng xuyên suốt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651760"/>
            <a:ext cx="10607040" cy="987552"/>
          </a:xfrm>
          <a:prstGeom prst="roundRect">
            <a:avLst/>
          </a:prstGeom>
          <a:solidFill>
            <a:srgbClr val="E7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51560" y="2898648"/>
            <a:ext cx="502920" cy="502920"/>
          </a:xfrm>
          <a:prstGeom prst="ellipse">
            <a:avLst/>
          </a:prstGeom>
          <a:solidFill>
            <a:srgbClr val="3B6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898648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2816352"/>
            <a:ext cx="9052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202C44"/>
                </a:solidFill>
                <a:latin typeface="Georgia"/>
              </a:rPr>
              <a:t>LogCL — nhánh nhúng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3218688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793"/>
                </a:solidFill>
                <a:latin typeface="Calibri"/>
              </a:rPr>
              <a:t>RGCN · GRU · attention · contrastive · ConvTransE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840480"/>
            <a:ext cx="10607040" cy="987552"/>
          </a:xfrm>
          <a:prstGeom prst="roundRect">
            <a:avLst/>
          </a:prstGeom>
          <a:solidFill>
            <a:srgbClr val="FBF1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51560" y="4087368"/>
            <a:ext cx="502920" cy="502920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087368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4005072"/>
            <a:ext cx="9052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202C44"/>
                </a:solidFill>
                <a:latin typeface="Georgia"/>
              </a:rPr>
              <a:t>DEPTH — hợp nhất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4407408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793"/>
                </a:solidFill>
                <a:latin typeface="Calibri"/>
              </a:rPr>
              <a:t>Backbone chung · Head A/B · path reasoner · fusion γ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5029200"/>
            <a:ext cx="10607040" cy="987552"/>
          </a:xfrm>
          <a:prstGeom prst="roundRect">
            <a:avLst/>
          </a:prstGeom>
          <a:solidFill>
            <a:srgbClr val="E1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1560" y="5276088"/>
            <a:ext cx="502920" cy="502920"/>
          </a:xfrm>
          <a:prstGeom prst="ellipse">
            <a:avLst/>
          </a:prstGeom>
          <a:solidFill>
            <a:srgbClr val="12A8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5276088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Georgia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74519" y="5193792"/>
            <a:ext cx="9052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202C44"/>
                </a:solidFill>
                <a:latin typeface="Georgia"/>
              </a:rPr>
              <a:t>Vì sao tốt hơn &amp; Hiệu năng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74519" y="5596128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793"/>
                </a:solidFill>
                <a:latin typeface="Calibri"/>
              </a:rPr>
              <a:t>Lý do + bảng kết quả ICEWS14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10896"/>
            <a:ext cx="109728" cy="548640"/>
          </a:xfrm>
          <a:prstGeom prst="rect">
            <a:avLst/>
          </a:prstGeom>
          <a:solidFill>
            <a:srgbClr val="1E2F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9260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1E2F55"/>
                </a:solidFill>
                <a:latin typeface="Calibri"/>
              </a:rPr>
              <a:t>PHẦN 1 · NỀN TẢNG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30352"/>
            <a:ext cx="1106424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202C44"/>
                </a:solidFill>
                <a:latin typeface="Georgia"/>
              </a:rPr>
              <a:t>Bài toán &amp; ký hiệu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649224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450" b="0" i="0">
                <a:solidFill>
                  <a:srgbClr val="202C44"/>
                </a:solidFill>
                <a:latin typeface="Calibri"/>
              </a:rPr>
              <a:t>TKG = chuỗi snapshot theo thời gian:  </a:t>
            </a:r>
            <a:r>
              <a:rPr sz="1450" b="1" i="0">
                <a:solidFill>
                  <a:srgbClr val="1E2F55"/>
                </a:solidFill>
                <a:latin typeface="Calibri"/>
              </a:rPr>
              <a:t>G₁, G₂, …, G_T</a:t>
            </a:r>
          </a:p>
          <a:p>
            <a:pPr algn="l">
              <a:spcAft>
                <a:spcPts val="1200"/>
              </a:spcAft>
            </a:pPr>
            <a:r>
              <a:rPr sz="1400" b="0" i="0">
                <a:solidFill>
                  <a:srgbClr val="202C44"/>
                </a:solidFill>
                <a:latin typeface="Calibri"/>
              </a:rPr>
              <a:t>Mỗi G_t = tập sự kiện (s, r, o) xảy ra tại thời điểm t.</a:t>
            </a:r>
          </a:p>
          <a:p>
            <a:pPr algn="l">
              <a:spcAft>
                <a:spcPts val="1200"/>
              </a:spcAft>
            </a:pPr>
            <a:r>
              <a:rPr sz="1450" b="1" i="0">
                <a:solidFill>
                  <a:srgbClr val="202C44"/>
                </a:solidFill>
                <a:latin typeface="Calibri"/>
              </a:rPr>
              <a:t>Nhiệm vụ (extrapolation): </a:t>
            </a:r>
            <a:r>
              <a:rPr sz="1400" b="0" i="0">
                <a:solidFill>
                  <a:srgbClr val="202C44"/>
                </a:solidFill>
                <a:latin typeface="Calibri"/>
              </a:rPr>
              <a:t>cho truy vấn (s, r, ?, t) ở thời điểm TƯƠNG LAI t, xếp hạng mọi thực thể làm object.</a:t>
            </a:r>
          </a:p>
          <a:p>
            <a:pPr algn="l">
              <a:spcAft>
                <a:spcPts val="600"/>
              </a:spcAft>
            </a:pPr>
            <a:r>
              <a:rPr sz="1450" b="1" i="0">
                <a:solidFill>
                  <a:srgbClr val="202C44"/>
                </a:solidFill>
                <a:latin typeface="Calibri"/>
              </a:rPr>
              <a:t>Đánh giá: </a:t>
            </a:r>
            <a:r>
              <a:rPr sz="1400" b="0" i="0">
                <a:solidFill>
                  <a:srgbClr val="202C44"/>
                </a:solidFill>
                <a:latin typeface="Calibri"/>
              </a:rPr>
              <a:t>MRR, Hits@1/3/10, theo time-aware filtered.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4572000"/>
            <a:ext cx="6492240" cy="1325880"/>
          </a:xfrm>
          <a:prstGeom prst="roundRect">
            <a:avLst/>
          </a:prstGeom>
          <a:solidFill>
            <a:srgbClr val="0E1A33"/>
          </a:solidFill>
          <a:ln w="12700">
            <a:solidFill>
              <a:srgbClr val="0E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4700016"/>
            <a:ext cx="6126479" cy="11064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 i="0">
                <a:solidFill>
                  <a:srgbClr val="E8A33D"/>
                </a:solidFill>
                <a:latin typeface="Calibri"/>
              </a:rPr>
              <a:t>Ký hiệu dùng xuyên suốt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CADCFC"/>
                </a:solidFill>
                <a:latin typeface="Consolas"/>
              </a:rPr>
              <a:t>N = 7128 thực thể,  R quan hệ (+nghịch đảo → 2R)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CADCFC"/>
                </a:solidFill>
                <a:latin typeface="Consolas"/>
              </a:rPr>
              <a:t>d = 200 (chiều embedding),  K = 7 (snapshot lịch sử)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CADCFC"/>
                </a:solidFill>
                <a:latin typeface="Consolas"/>
              </a:rPr>
              <a:t>H ∈ ℝ^(N×d): embedding thực thể;  emb_rel ∈ ℝ^(2R×d)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43800" y="1417320"/>
            <a:ext cx="3886200" cy="4480560"/>
          </a:xfrm>
          <a:prstGeom prst="roundRect">
            <a:avLst/>
          </a:prstGeom>
          <a:solidFill>
            <a:srgbClr val="14213D"/>
          </a:solidFill>
          <a:ln w="12700">
            <a:solidFill>
              <a:srgbClr val="1421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18120" y="1645920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E8A33D"/>
                </a:solidFill>
                <a:latin typeface="Georgia"/>
              </a:rPr>
              <a:t>Hai họ phương pháp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2148840"/>
            <a:ext cx="338328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CADCFC"/>
                </a:solidFill>
                <a:latin typeface="Calibri"/>
              </a:rPr>
              <a:t>① Tiến hóa nhúng</a:t>
            </a:r>
          </a:p>
          <a:p>
            <a:pPr algn="l">
              <a:spcAft>
                <a:spcPts val="1200"/>
              </a:spcAft>
            </a:pPr>
            <a:r>
              <a:rPr sz="1250" b="0" i="0">
                <a:solidFill>
                  <a:srgbClr val="CADCFC"/>
                </a:solidFill>
                <a:latin typeface="Calibri"/>
              </a:rPr>
              <a:t>học vector &amp; cho tiến hóa theo thời gian (LogCL, RE-GCN).</a:t>
            </a:r>
          </a:p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CADCFC"/>
                </a:solidFill>
                <a:latin typeface="Calibri"/>
              </a:rPr>
              <a:t>② Suy luận đường</a:t>
            </a:r>
          </a:p>
          <a:p>
            <a:pPr algn="l">
              <a:spcAft>
                <a:spcPts val="1200"/>
              </a:spcAft>
            </a:pPr>
            <a:r>
              <a:rPr sz="1250" b="0" i="0">
                <a:solidFill>
                  <a:srgbClr val="CADCFC"/>
                </a:solidFill>
                <a:latin typeface="Calibri"/>
              </a:rPr>
              <a:t>truy vết đường quan hệ đa-hop trong lịch sử (CognTKE).</a:t>
            </a:r>
          </a:p>
          <a:p>
            <a:pPr algn="l"/>
            <a:r>
              <a:rPr sz="1350" b="1" i="0">
                <a:solidFill>
                  <a:srgbClr val="E8A33D"/>
                </a:solidFill>
                <a:latin typeface="Calibri"/>
              </a:rPr>
              <a:t>DEPTH = gộp cả hai.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10896"/>
            <a:ext cx="109728" cy="54864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9260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E8A33D"/>
                </a:solidFill>
                <a:latin typeface="Calibri"/>
              </a:rPr>
              <a:t>PHẦN 1 · NỀN TẢNG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30352"/>
            <a:ext cx="1106424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202C44"/>
                </a:solidFill>
                <a:latin typeface="Georgia"/>
              </a:rPr>
              <a:t>Ví dụ minh họa cho phần hợp nhất (DEPTH)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371600"/>
            <a:ext cx="5120640" cy="4480560"/>
          </a:xfrm>
          <a:prstGeom prst="roundRect">
            <a:avLst/>
          </a:prstGeom>
          <a:solidFill>
            <a:srgbClr val="FBF1DF"/>
          </a:solidFill>
          <a:ln w="15875">
            <a:solidFill>
              <a:srgbClr val="E8A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55448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8A33D"/>
                </a:solidFill>
                <a:latin typeface="Calibri"/>
              </a:rPr>
              <a:t>Truy vấn</a:t>
            </a:r>
            <a:r>
              <a:rPr sz="1600" b="1" i="0">
                <a:solidFill>
                  <a:srgbClr val="202C44"/>
                </a:solidFill>
                <a:latin typeface="Georgia"/>
              </a:rPr>
              <a:t>   (USA, Sanction, ?, 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05740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202C44"/>
                </a:solidFill>
                <a:latin typeface="Calibri"/>
              </a:rPr>
              <a:t>Đáp án đúng: </a:t>
            </a:r>
            <a:r>
              <a:rPr sz="1500" b="1" i="0">
                <a:solidFill>
                  <a:srgbClr val="12A89D"/>
                </a:solidFill>
                <a:latin typeface="Calibri"/>
              </a:rPr>
              <a:t>Iran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51460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202C44"/>
                </a:solidFill>
                <a:latin typeface="Calibri"/>
              </a:rPr>
              <a:t>4 ứng viên ta theo dõi: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92608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8A33D"/>
                </a:solidFill>
                <a:latin typeface="Calibri"/>
              </a:rPr>
              <a:t>•  </a:t>
            </a:r>
            <a:r>
              <a:rPr sz="1350" b="1" i="0">
                <a:solidFill>
                  <a:srgbClr val="12A89D"/>
                </a:solidFill>
                <a:latin typeface="Calibri"/>
              </a:rPr>
              <a:t>Iran (đúng)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33756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8A33D"/>
                </a:solidFill>
                <a:latin typeface="Calibri"/>
              </a:rPr>
              <a:t>•  </a:t>
            </a:r>
            <a:r>
              <a:rPr sz="1350" b="0" i="0">
                <a:solidFill>
                  <a:srgbClr val="202C44"/>
                </a:solidFill>
                <a:latin typeface="Calibri"/>
              </a:rPr>
              <a:t>Russia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74904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8A33D"/>
                </a:solidFill>
                <a:latin typeface="Calibri"/>
              </a:rPr>
              <a:t>•  </a:t>
            </a:r>
            <a:r>
              <a:rPr sz="1350" b="0" i="0">
                <a:solidFill>
                  <a:srgbClr val="202C44"/>
                </a:solidFill>
                <a:latin typeface="Calibri"/>
              </a:rPr>
              <a:t>China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416052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8A33D"/>
                </a:solidFill>
                <a:latin typeface="Calibri"/>
              </a:rPr>
              <a:t>•  </a:t>
            </a:r>
            <a:r>
              <a:rPr sz="1350" b="0" i="0">
                <a:solidFill>
                  <a:srgbClr val="202C44"/>
                </a:solidFill>
                <a:latin typeface="Calibri"/>
              </a:rPr>
              <a:t>North Korea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754880"/>
            <a:ext cx="46634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1">
                <a:solidFill>
                  <a:srgbClr val="6B7793"/>
                </a:solidFill>
                <a:latin typeface="Calibri"/>
              </a:rPr>
              <a:t>Lịch sử gần có các sự kiện: USA→threaten→Iran, Iran→use_force, …  (không có đường rõ tới Russia/China).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371600"/>
            <a:ext cx="5212080" cy="4480560"/>
          </a:xfrm>
          <a:prstGeom prst="roundRect">
            <a:avLst/>
          </a:prstGeom>
          <a:solidFill>
            <a:srgbClr val="14213D"/>
          </a:solidFill>
          <a:ln w="12700">
            <a:solidFill>
              <a:srgbClr val="1421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1572768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8A33D"/>
                </a:solidFill>
                <a:latin typeface="Georgia"/>
              </a:rPr>
              <a:t>Ta sẽ theo ví dụ này qua từng bước:</a:t>
            </a:r>
          </a:p>
        </p:txBody>
      </p:sp>
      <p:sp>
        <p:nvSpPr>
          <p:cNvPr id="17" name="Oval 16"/>
          <p:cNvSpPr/>
          <p:nvPr/>
        </p:nvSpPr>
        <p:spPr>
          <a:xfrm>
            <a:off x="6446520" y="2240280"/>
            <a:ext cx="457200" cy="457200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224028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86600" y="2194560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FFFFFF"/>
                </a:solidFill>
                <a:latin typeface="Georgia"/>
              </a:rPr>
              <a:t>LogCL → S_embed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86600" y="2587752"/>
            <a:ext cx="4069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CADCFC"/>
                </a:solidFill>
                <a:latin typeface="Calibri"/>
              </a:rPr>
              <a:t>embedding chấm điểm: Russia cao nhất (sai!), Iran chỉ #3</a:t>
            </a:r>
          </a:p>
        </p:txBody>
      </p:sp>
      <p:sp>
        <p:nvSpPr>
          <p:cNvPr id="21" name="Oval 20"/>
          <p:cNvSpPr/>
          <p:nvPr/>
        </p:nvSpPr>
        <p:spPr>
          <a:xfrm>
            <a:off x="6446520" y="3383280"/>
            <a:ext cx="457200" cy="457200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338328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86600" y="3337560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FFFFFF"/>
                </a:solidFill>
                <a:latin typeface="Georgia"/>
              </a:rPr>
              <a:t>Head B → S_path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86600" y="3730752"/>
            <a:ext cx="4069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CADCFC"/>
                </a:solidFill>
                <a:latin typeface="Calibri"/>
              </a:rPr>
              <a:t>đường quan hệ tìm thấy Iran → điểm path cao</a:t>
            </a:r>
          </a:p>
        </p:txBody>
      </p:sp>
      <p:sp>
        <p:nvSpPr>
          <p:cNvPr id="25" name="Oval 24"/>
          <p:cNvSpPr/>
          <p:nvPr/>
        </p:nvSpPr>
        <p:spPr>
          <a:xfrm>
            <a:off x="6446520" y="4526280"/>
            <a:ext cx="457200" cy="457200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6520" y="452628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4480560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FFFFFF"/>
                </a:solidFill>
                <a:latin typeface="Georgia"/>
              </a:rPr>
              <a:t>Fusion → kết quả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86600" y="4873752"/>
            <a:ext cx="4069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CADCFC"/>
                </a:solidFill>
                <a:latin typeface="Calibri"/>
              </a:rPr>
              <a:t>cộng lại: Iran vươn lên #1 (đúng)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" y="2240280"/>
            <a:ext cx="868680" cy="868680"/>
          </a:xfrm>
          <a:prstGeom prst="ellipse">
            <a:avLst/>
          </a:prstGeom>
          <a:solidFill>
            <a:srgbClr val="3B6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40280"/>
            <a:ext cx="868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5960" y="2194560"/>
            <a:ext cx="9509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Georgia"/>
              </a:rPr>
              <a:t>LogCL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0" y="3108960"/>
            <a:ext cx="2743200" cy="45720"/>
          </a:xfrm>
          <a:prstGeom prst="rect">
            <a:avLst/>
          </a:prstGeom>
          <a:solidFill>
            <a:srgbClr val="3B6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93392" y="3273552"/>
            <a:ext cx="9509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CADCFC"/>
                </a:solidFill>
                <a:latin typeface="Calibri"/>
              </a:rPr>
              <a:t>Logic-aware Contrastive learning (ICDE 2024): 2 vấn đề · 3 thành phần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10896"/>
            <a:ext cx="109728" cy="548640"/>
          </a:xfrm>
          <a:prstGeom prst="rect">
            <a:avLst/>
          </a:prstGeom>
          <a:solidFill>
            <a:srgbClr val="3B6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9260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3B6FD4"/>
                </a:solidFill>
                <a:latin typeface="Calibri"/>
              </a:rPr>
              <a:t>PHẦN 2 · LOGCL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30352"/>
            <a:ext cx="1106424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202C44"/>
                </a:solidFill>
                <a:latin typeface="Georgia"/>
              </a:rPr>
              <a:t>Hai vấn đề LogCL nhắm tới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00200"/>
            <a:ext cx="5166360" cy="4206240"/>
          </a:xfrm>
          <a:prstGeom prst="roundRect">
            <a:avLst/>
          </a:prstGeom>
          <a:solidFill>
            <a:srgbClr val="E7EEFB"/>
          </a:solidFill>
          <a:ln w="12700">
            <a:solidFill>
              <a:srgbClr val="E7EE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00200"/>
            <a:ext cx="5166360" cy="91440"/>
          </a:xfrm>
          <a:prstGeom prst="rect">
            <a:avLst/>
          </a:prstGeom>
          <a:solidFill>
            <a:srgbClr val="3B6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783080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3B6FD4"/>
                </a:solidFill>
                <a:latin typeface="Calibri"/>
              </a:rPr>
              <a:t>Vấn đề 1</a:t>
            </a:r>
            <a:r>
              <a:rPr sz="1500" b="1" i="0">
                <a:solidFill>
                  <a:srgbClr val="202C44"/>
                </a:solidFill>
                <a:latin typeface="Georgia"/>
              </a:rPr>
              <a:t>  Lịch sử liên quan bị bỏ qua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377440"/>
            <a:ext cx="475488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0" i="0">
                <a:solidFill>
                  <a:srgbClr val="202C44"/>
                </a:solidFill>
                <a:latin typeface="Calibri"/>
              </a:rPr>
              <a:t>Model cũ mặc định snapshot GẦN nhất là quan trọng nhất.</a:t>
            </a:r>
          </a:p>
          <a:p>
            <a:pPr algn="l">
              <a:spcAft>
                <a:spcPts val="1000"/>
              </a:spcAft>
            </a:pPr>
            <a:r>
              <a:rPr sz="1400" b="0" i="0">
                <a:solidFill>
                  <a:srgbClr val="202C44"/>
                </a:solidFill>
                <a:latin typeface="Calibri"/>
              </a:rPr>
              <a:t>Nhưng entity trong query (vd China) có thể KHÔNG xuất hiện ở snapshot gần → snapshot đó vô ích.</a:t>
            </a:r>
          </a:p>
          <a:p>
            <a:pPr algn="l"/>
            <a:r>
              <a:rPr sz="1400" b="0" i="0">
                <a:solidFill>
                  <a:srgbClr val="202C44"/>
                </a:solidFill>
                <a:latin typeface="Calibri"/>
              </a:rPr>
              <a:t>Trong khi một snapshot CŨ hơn lại rất liên quan → bị bỏ lỡ.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00200"/>
            <a:ext cx="5166360" cy="4206240"/>
          </a:xfrm>
          <a:prstGeom prst="roundRect">
            <a:avLst/>
          </a:prstGeom>
          <a:solidFill>
            <a:srgbClr val="FAECE7"/>
          </a:solidFill>
          <a:ln w="12700">
            <a:solidFill>
              <a:srgbClr val="FAE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600200"/>
            <a:ext cx="5166360" cy="91440"/>
          </a:xfrm>
          <a:prstGeom prst="rect">
            <a:avLst/>
          </a:prstGeom>
          <a:solidFill>
            <a:srgbClr val="993C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783080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993C1D"/>
                </a:solidFill>
                <a:latin typeface="Calibri"/>
              </a:rPr>
              <a:t>Vấn đề 2</a:t>
            </a:r>
            <a:r>
              <a:rPr sz="1500" b="1" i="0">
                <a:solidFill>
                  <a:srgbClr val="202C44"/>
                </a:solidFill>
                <a:latin typeface="Georgia"/>
              </a:rPr>
              <a:t>  Yếu trước nhiễu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377440"/>
            <a:ext cx="47548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202C44"/>
                </a:solidFill>
                <a:latin typeface="Calibri"/>
              </a:rPr>
              <a:t>Thêm Gaussian noise vào đầu vào → MRR của RE-GCN sụt giảm tới </a:t>
            </a:r>
            <a:r>
              <a:rPr sz="1500" b="1" i="0">
                <a:solidFill>
                  <a:srgbClr val="993C1D"/>
                </a:solidFill>
                <a:latin typeface="Calibri"/>
              </a:rPr>
              <a:t>63.8%</a:t>
            </a:r>
            <a:r>
              <a:rPr sz="1400" b="0" i="0">
                <a:solidFill>
                  <a:srgbClr val="202C44"/>
                </a:solidFill>
                <a:latin typeface="Calibri"/>
              </a:rPr>
              <a:t>.</a:t>
            </a:r>
          </a:p>
          <a:p>
            <a:pPr algn="l"/>
            <a:r>
              <a:rPr sz="1400" b="0" i="0">
                <a:solidFill>
                  <a:srgbClr val="202C44"/>
                </a:solidFill>
                <a:latin typeface="Calibri"/>
              </a:rPr>
              <a:t>Mô hình quá dễ bị “lung lay” bởi chi tiết bề mặt.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46520" y="3977639"/>
            <a:ext cx="470916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4160520"/>
            <a:ext cx="42976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 i="0">
                <a:solidFill>
                  <a:srgbClr val="993C1D"/>
                </a:solidFill>
                <a:latin typeface="Calibri"/>
              </a:rPr>
              <a:t>→ LogCL giải quyết bằng: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02C44"/>
                </a:solidFill>
                <a:latin typeface="Calibri"/>
              </a:rPr>
              <a:t>• Entity-Aware Attention (chọn đúng snapshot liên quan)</a:t>
            </a:r>
          </a:p>
          <a:p>
            <a:pPr algn="l"/>
            <a:r>
              <a:rPr sz="1300" b="0" i="0">
                <a:solidFill>
                  <a:srgbClr val="202C44"/>
                </a:solidFill>
                <a:latin typeface="Calibri"/>
              </a:rPr>
              <a:t>• Local–Global Contrastive (bền với noise)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10896"/>
            <a:ext cx="109728" cy="548640"/>
          </a:xfrm>
          <a:prstGeom prst="rect">
            <a:avLst/>
          </a:prstGeom>
          <a:solidFill>
            <a:srgbClr val="3B6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9260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3B6FD4"/>
                </a:solidFill>
                <a:latin typeface="Calibri"/>
              </a:rPr>
              <a:t>PHẦN 2 · LOGCL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30352"/>
            <a:ext cx="1106424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202C44"/>
                </a:solidFill>
                <a:latin typeface="Georgia"/>
              </a:rPr>
              <a:t>Sơ đồ kiến trúc tổng quan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80160" y="1325880"/>
            <a:ext cx="9601200" cy="548640"/>
          </a:xfrm>
          <a:prstGeom prst="roundRect">
            <a:avLst/>
          </a:prstGeom>
          <a:solidFill>
            <a:srgbClr val="F1EFE8"/>
          </a:solidFill>
          <a:ln w="9525">
            <a:solidFill>
              <a:srgbClr val="5F5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1325880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202C44"/>
                </a:solidFill>
                <a:latin typeface="Calibri"/>
              </a:rPr>
              <a:t>Temporal Knowledge Graph — chuỗi snapshot (e_s, r, e_o, t)</a:t>
            </a:r>
          </a:p>
        </p:txBody>
      </p:sp>
      <p:sp>
        <p:nvSpPr>
          <p:cNvPr id="8" name="Down Arrow 7"/>
          <p:cNvSpPr/>
          <p:nvPr/>
        </p:nvSpPr>
        <p:spPr>
          <a:xfrm>
            <a:off x="3108960" y="1874519"/>
            <a:ext cx="310896" cy="292608"/>
          </a:xfrm>
          <a:prstGeom prst="downArrow">
            <a:avLst/>
          </a:prstGeom>
          <a:solidFill>
            <a:srgbClr val="AA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own Arrow 8"/>
          <p:cNvSpPr/>
          <p:nvPr/>
        </p:nvSpPr>
        <p:spPr>
          <a:xfrm>
            <a:off x="8778240" y="1874519"/>
            <a:ext cx="310896" cy="292608"/>
          </a:xfrm>
          <a:prstGeom prst="downArrow">
            <a:avLst/>
          </a:prstGeom>
          <a:solidFill>
            <a:srgbClr val="AA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0" y="1874519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6B7793"/>
                </a:solidFill>
                <a:latin typeface="Calibri"/>
              </a:rPr>
              <a:t>m snapshot gần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0" y="1874519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6B7793"/>
                </a:solidFill>
                <a:latin typeface="Calibri"/>
              </a:rPr>
              <a:t>toàn bộ lịch sử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240280"/>
            <a:ext cx="5212080" cy="1828800"/>
          </a:xfrm>
          <a:prstGeom prst="roundRect">
            <a:avLst/>
          </a:prstGeom>
          <a:solidFill>
            <a:srgbClr val="E1F5EE"/>
          </a:solidFill>
          <a:ln w="12700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33172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0F6E56"/>
                </a:solidFill>
                <a:latin typeface="Georgia"/>
              </a:rPr>
              <a:t>Local Entity-Aware Attention Recurrent Encoder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2788920"/>
            <a:ext cx="2331720" cy="502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788920"/>
            <a:ext cx="23317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0F6E56"/>
                </a:solidFill>
                <a:latin typeface="Calibri"/>
              </a:rPr>
              <a:t>① R-GCN Local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218688" y="2907792"/>
            <a:ext cx="274320" cy="256032"/>
          </a:xfrm>
          <a:prstGeom prst="rightArrow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520440" y="2788920"/>
            <a:ext cx="2194560" cy="502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0440" y="2788920"/>
            <a:ext cx="21945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0F6E56"/>
                </a:solidFill>
                <a:latin typeface="Calibri"/>
              </a:rPr>
              <a:t>② GRU Ent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3108960" y="3310128"/>
            <a:ext cx="256032" cy="201168"/>
          </a:xfrm>
          <a:prstGeom prst="downArrow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68680" y="3456432"/>
            <a:ext cx="4846320" cy="502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456432"/>
            <a:ext cx="4846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0F6E56"/>
                </a:solidFill>
                <a:latin typeface="Calibri"/>
              </a:rPr>
              <a:t>③ Entity-Aware Attention  (αᵢ theo snapshot)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2240280"/>
            <a:ext cx="5212080" cy="1828800"/>
          </a:xfrm>
          <a:prstGeom prst="roundRect">
            <a:avLst/>
          </a:prstGeom>
          <a:solidFill>
            <a:srgbClr val="EEEDFE"/>
          </a:solidFill>
          <a:ln w="12700">
            <a:solidFill>
              <a:srgbClr val="534A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233172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534AB7"/>
                </a:solidFill>
                <a:latin typeface="Georgia"/>
              </a:rPr>
              <a:t>Global Entity-Aware Attention Encoder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37960" y="2788920"/>
            <a:ext cx="4754880" cy="502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534A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37960" y="2788920"/>
            <a:ext cx="47548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534AB7"/>
                </a:solidFill>
                <a:latin typeface="Calibri"/>
              </a:rPr>
              <a:t>① Xây subgraph lịch sử (1-hop + 2-hop)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37960" y="3456432"/>
            <a:ext cx="2286000" cy="502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534A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37960" y="3456432"/>
            <a:ext cx="22860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534AB7"/>
                </a:solidFill>
                <a:latin typeface="Calibri"/>
              </a:rPr>
              <a:t>② R-GCN Global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8842248" y="3566160"/>
            <a:ext cx="274320" cy="256032"/>
          </a:xfrm>
          <a:prstGeom prst="rightArrow">
            <a:avLst/>
          </a:prstGeom>
          <a:solidFill>
            <a:srgbClr val="534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006840" y="3456432"/>
            <a:ext cx="2286000" cy="502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534A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06840" y="3456432"/>
            <a:ext cx="22860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534AB7"/>
                </a:solidFill>
                <a:latin typeface="Calibri"/>
              </a:rPr>
              <a:t>③ Entity Attention</a:t>
            </a:r>
          </a:p>
        </p:txBody>
      </p:sp>
      <p:sp>
        <p:nvSpPr>
          <p:cNvPr id="31" name="Down Arrow 30"/>
          <p:cNvSpPr/>
          <p:nvPr/>
        </p:nvSpPr>
        <p:spPr>
          <a:xfrm>
            <a:off x="3108960" y="4087368"/>
            <a:ext cx="274320" cy="274320"/>
          </a:xfrm>
          <a:prstGeom prst="downArrow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Down Arrow 31"/>
          <p:cNvSpPr/>
          <p:nvPr/>
        </p:nvSpPr>
        <p:spPr>
          <a:xfrm>
            <a:off x="8778240" y="4087368"/>
            <a:ext cx="274320" cy="274320"/>
          </a:xfrm>
          <a:prstGeom prst="downArrow">
            <a:avLst/>
          </a:prstGeom>
          <a:solidFill>
            <a:srgbClr val="534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3566160" y="4434840"/>
            <a:ext cx="5029200" cy="566928"/>
          </a:xfrm>
          <a:prstGeom prst="roundRect">
            <a:avLst/>
          </a:prstGeom>
          <a:solidFill>
            <a:srgbClr val="FAECE7"/>
          </a:solidFill>
          <a:ln w="12700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66160" y="4434840"/>
            <a:ext cx="50292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993C1D"/>
                </a:solidFill>
                <a:latin typeface="Georgia"/>
              </a:rPr>
              <a:t>Local–Global Query Contrast Module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3291840" y="4206240"/>
            <a:ext cx="1554480" cy="228600"/>
          </a:xfrm>
          <a:prstGeom prst="line">
            <a:avLst/>
          </a:prstGeom>
          <a:ln w="19050">
            <a:solidFill>
              <a:srgbClr val="993C1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>
            <a:off x="7223760" y="4206240"/>
            <a:ext cx="1463040" cy="228600"/>
          </a:xfrm>
          <a:prstGeom prst="line">
            <a:avLst/>
          </a:prstGeom>
          <a:ln w="19050">
            <a:solidFill>
              <a:srgbClr val="993C1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2743200" y="5212080"/>
            <a:ext cx="2651760" cy="502920"/>
          </a:xfrm>
          <a:prstGeom prst="roundRect">
            <a:avLst/>
          </a:prstGeom>
          <a:solidFill>
            <a:srgbClr val="FAEEDA"/>
          </a:solidFill>
          <a:ln w="9525">
            <a:solidFill>
              <a:srgbClr val="854F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43200" y="5212080"/>
            <a:ext cx="26517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854F0B"/>
                </a:solidFill>
                <a:latin typeface="Calibri"/>
              </a:rPr>
              <a:t>L_cl  (chống noise)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812280" y="5212080"/>
            <a:ext cx="2651760" cy="502920"/>
          </a:xfrm>
          <a:prstGeom prst="roundRect">
            <a:avLst/>
          </a:prstGeom>
          <a:solidFill>
            <a:srgbClr val="E6F1FB"/>
          </a:solidFill>
          <a:ln w="9525">
            <a:solidFill>
              <a:srgbClr val="185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12280" y="5212080"/>
            <a:ext cx="26517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185FA5"/>
                </a:solidFill>
                <a:latin typeface="Calibri"/>
              </a:rPr>
              <a:t>L_tkg  (dự đoán)</a:t>
            </a:r>
          </a:p>
        </p:txBody>
      </p:sp>
      <p:cxnSp>
        <p:nvCxnSpPr>
          <p:cNvPr id="41" name="Connector 40"/>
          <p:cNvCxnSpPr/>
          <p:nvPr/>
        </p:nvCxnSpPr>
        <p:spPr>
          <a:xfrm flipH="1">
            <a:off x="4206240" y="5001768"/>
            <a:ext cx="731520" cy="210312"/>
          </a:xfrm>
          <a:prstGeom prst="line">
            <a:avLst/>
          </a:prstGeom>
          <a:ln w="19050">
            <a:solidFill>
              <a:srgbClr val="6B779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7223760" y="5001768"/>
            <a:ext cx="731519" cy="210312"/>
          </a:xfrm>
          <a:prstGeom prst="line">
            <a:avLst/>
          </a:prstGeom>
          <a:ln w="19050">
            <a:solidFill>
              <a:srgbClr val="6B779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5029200" y="5943600"/>
            <a:ext cx="2103120" cy="457200"/>
          </a:xfrm>
          <a:prstGeom prst="roundRect">
            <a:avLst/>
          </a:prstGeom>
          <a:solidFill>
            <a:srgbClr val="EAF3DE"/>
          </a:solidFill>
          <a:ln w="9525">
            <a:solidFill>
              <a:srgbClr val="3B6D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29200" y="5943600"/>
            <a:ext cx="21031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3B6D11"/>
                </a:solidFill>
                <a:latin typeface="Calibri"/>
              </a:rPr>
              <a:t>L = L_tkg + L_cl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4069080" y="5715000"/>
            <a:ext cx="1417320" cy="228600"/>
          </a:xfrm>
          <a:prstGeom prst="line">
            <a:avLst/>
          </a:prstGeom>
          <a:ln w="19050">
            <a:solidFill>
              <a:srgbClr val="6B779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H="1">
            <a:off x="6675120" y="5715000"/>
            <a:ext cx="1463040" cy="228600"/>
          </a:xfrm>
          <a:prstGeom prst="line">
            <a:avLst/>
          </a:prstGeom>
          <a:ln w="19050">
            <a:solidFill>
              <a:srgbClr val="6B779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10896"/>
            <a:ext cx="109728" cy="548640"/>
          </a:xfrm>
          <a:prstGeom prst="rect">
            <a:avLst/>
          </a:prstGeom>
          <a:solidFill>
            <a:srgbClr val="3B6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9260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3B6FD4"/>
                </a:solidFill>
                <a:latin typeface="Calibri"/>
              </a:rPr>
              <a:t>PHẦN 2 · LOGCL · THÀNH PHẦN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30352"/>
            <a:ext cx="1106424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202C44"/>
                </a:solidFill>
                <a:latin typeface="Georgia"/>
              </a:rPr>
              <a:t>Local Entity-Aware Attention Recurrent Encoder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6492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1">
                <a:solidFill>
                  <a:srgbClr val="6B7793"/>
                </a:solidFill>
                <a:latin typeface="Calibri"/>
              </a:rPr>
              <a:t>Xử lý m snapshot gần nhất (thường 7–9 bước).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920240"/>
            <a:ext cx="64922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920240"/>
            <a:ext cx="91440" cy="1143000"/>
          </a:xfrm>
          <a:prstGeom prst="rect">
            <a:avLst/>
          </a:prstGeom>
          <a:solidFill>
            <a:srgbClr val="3B6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39112"/>
            <a:ext cx="6126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202C44"/>
                </a:solidFill>
                <a:latin typeface="Georgia"/>
              </a:rPr>
              <a:t>① R-GCN Local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423160"/>
            <a:ext cx="61722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6B7793"/>
                </a:solidFill>
                <a:latin typeface="Calibri"/>
              </a:rPr>
              <a:t>Lan truyền thông tin giữa node theo cạnh quan hệ TRONG mỗi snapshot. Kèm mã hóa thời gian cos(d·w + b) để biết snapshot cách query bao lâu.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200400"/>
            <a:ext cx="64922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200400"/>
            <a:ext cx="91440" cy="1143000"/>
          </a:xfrm>
          <a:prstGeom prst="rect">
            <a:avLst/>
          </a:prstGeom>
          <a:solidFill>
            <a:srgbClr val="3B6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319272"/>
            <a:ext cx="6126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202C44"/>
                </a:solidFill>
                <a:latin typeface="Georgia"/>
              </a:rPr>
              <a:t>② GRU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703320"/>
            <a:ext cx="61722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6B7793"/>
                </a:solidFill>
                <a:latin typeface="Calibri"/>
              </a:rPr>
              <a:t>Xâu chuỗi các snapshot theo thứ tự thời gian — như đọc lịch sử từng trang.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480560"/>
            <a:ext cx="64922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4480560"/>
            <a:ext cx="91440" cy="1143000"/>
          </a:xfrm>
          <a:prstGeom prst="rect">
            <a:avLst/>
          </a:prstGeom>
          <a:solidFill>
            <a:srgbClr val="3B6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599432"/>
            <a:ext cx="6126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202C44"/>
                </a:solidFill>
                <a:latin typeface="Georgia"/>
              </a:rPr>
              <a:t>③ Entity-Aware Attention (mới)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983480"/>
            <a:ext cx="61722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6B7793"/>
                </a:solidFill>
                <a:latin typeface="Calibri"/>
              </a:rPr>
              <a:t>Tính điểm αᵢ cho TỪNG snapshot, dựa trên entity của query có xuất hiện/liên quan tới snapshot đó không. Snapshot liên quan → “chú ý” nhiều hơn.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52360" y="1463040"/>
            <a:ext cx="3977639" cy="1554480"/>
          </a:xfrm>
          <a:prstGeom prst="roundRect">
            <a:avLst/>
          </a:prstGeom>
          <a:solidFill>
            <a:srgbClr val="0E1A33"/>
          </a:solidFill>
          <a:ln w="12700">
            <a:solidFill>
              <a:srgbClr val="0E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35240" y="1591056"/>
            <a:ext cx="3611879" cy="13350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 i="0">
                <a:solidFill>
                  <a:srgbClr val="E8A33D"/>
                </a:solidFill>
                <a:latin typeface="Calibri"/>
              </a:rPr>
              <a:t>Công thức chính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CADCFC"/>
                </a:solidFill>
                <a:latin typeface="Consolas"/>
              </a:rPr>
              <a:t>time-enc:  φ(d) = cos(d·w + b)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CADCFC"/>
                </a:solidFill>
                <a:latin typeface="Consolas"/>
              </a:rPr>
              <a:t>αᵢ = softmax( score(query, snapshotᵢ) )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CADCFC"/>
                </a:solidFill>
                <a:latin typeface="Consolas"/>
              </a:rPr>
              <a:t>h_local = Σᵢ αᵢ · hᵢ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52360" y="3200400"/>
            <a:ext cx="3977639" cy="2606040"/>
          </a:xfrm>
          <a:prstGeom prst="roundRect">
            <a:avLst/>
          </a:prstGeom>
          <a:solidFill>
            <a:srgbClr val="FBF1DF"/>
          </a:solidFill>
          <a:ln w="15875">
            <a:solidFill>
              <a:srgbClr val="E8A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53528" y="3346704"/>
            <a:ext cx="357530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8A33D"/>
                </a:solidFill>
                <a:latin typeface="Calibri"/>
              </a:rPr>
              <a:t>VÍ DỤ XUYÊN SUỐT</a:t>
            </a:r>
            <a:r>
              <a:rPr sz="1150" b="1" i="0">
                <a:solidFill>
                  <a:srgbClr val="202C44"/>
                </a:solidFill>
                <a:latin typeface="Calibri"/>
              </a:rPr>
              <a:t>  αᵢ (China, Cooperate)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53528" y="3767328"/>
            <a:ext cx="3575303" cy="1892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50" b="0" i="0">
                <a:solidFill>
                  <a:srgbClr val="202C44"/>
                </a:solidFill>
                <a:latin typeface="Calibri"/>
              </a:rPr>
              <a:t>t_q−2: China VẮNG → αᵢ thấp (gần như bỏ qua).</a:t>
            </a:r>
          </a:p>
          <a:p>
            <a:pPr algn="l">
              <a:spcAft>
                <a:spcPts val="800"/>
              </a:spcAft>
            </a:pPr>
            <a:r>
              <a:rPr sz="1250" b="0" i="0">
                <a:solidFill>
                  <a:srgbClr val="202C44"/>
                </a:solidFill>
                <a:latin typeface="Calibri"/>
              </a:rPr>
              <a:t>t_q−1: China “Make a visit” → αᵢ cao (chú ý mạnh).</a:t>
            </a:r>
          </a:p>
          <a:p>
            <a:pPr algn="l"/>
            <a:r>
              <a:rPr sz="1250" b="1" i="0">
                <a:solidFill>
                  <a:srgbClr val="E8A33D"/>
                </a:solidFill>
                <a:latin typeface="Calibri"/>
              </a:rPr>
              <a:t>Đây là đóng góp lớn nhất theo ablation.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10896"/>
            <a:ext cx="109728" cy="548640"/>
          </a:xfrm>
          <a:prstGeom prst="rect">
            <a:avLst/>
          </a:prstGeom>
          <a:solidFill>
            <a:srgbClr val="534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9260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534AB7"/>
                </a:solidFill>
                <a:latin typeface="Calibri"/>
              </a:rPr>
              <a:t>PHẦN 2 · LOGCL · THÀNH PHẦN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30352"/>
            <a:ext cx="1106424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202C44"/>
                </a:solidFill>
                <a:latin typeface="Georgia"/>
              </a:rPr>
              <a:t>Global Entity-Aware Attention Encoder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6492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1">
                <a:solidFill>
                  <a:srgbClr val="6B7793"/>
                </a:solidFill>
                <a:latin typeface="Calibri"/>
              </a:rPr>
              <a:t>Nhìn TOÀN BỘ lịch sử, không chỉ m bước gần đây.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920240"/>
            <a:ext cx="649224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350" b="1" i="0">
                <a:solidFill>
                  <a:srgbClr val="534AB7"/>
                </a:solidFill>
                <a:latin typeface="Calibri"/>
              </a:rPr>
              <a:t>•  </a:t>
            </a:r>
            <a:r>
              <a:rPr sz="1350" b="0" i="0">
                <a:solidFill>
                  <a:srgbClr val="202C44"/>
                </a:solidFill>
                <a:latin typeface="Calibri"/>
              </a:rPr>
              <a:t>Xây subgraph lịch sử: gom mọi sự kiện liên quan entity của query — cả 1-hop lẫn 2-hop (bạn của bạn).</a:t>
            </a:r>
          </a:p>
          <a:p>
            <a:pPr algn="l">
              <a:spcAft>
                <a:spcPts val="1000"/>
              </a:spcAft>
            </a:pPr>
            <a:r>
              <a:rPr sz="1350" b="1" i="0">
                <a:solidFill>
                  <a:srgbClr val="534AB7"/>
                </a:solidFill>
                <a:latin typeface="Calibri"/>
              </a:rPr>
              <a:t>•  </a:t>
            </a:r>
            <a:r>
              <a:rPr sz="1350" b="0" i="0">
                <a:solidFill>
                  <a:srgbClr val="202C44"/>
                </a:solidFill>
                <a:latin typeface="Calibri"/>
              </a:rPr>
              <a:t>R-GCN Global xử lý subgraph này.</a:t>
            </a:r>
          </a:p>
          <a:p>
            <a:pPr algn="l">
              <a:spcAft>
                <a:spcPts val="1000"/>
              </a:spcAft>
            </a:pPr>
            <a:r>
              <a:rPr sz="1350" b="1" i="0">
                <a:solidFill>
                  <a:srgbClr val="534AB7"/>
                </a:solidFill>
                <a:latin typeface="Calibri"/>
              </a:rPr>
              <a:t>•  </a:t>
            </a:r>
            <a:r>
              <a:rPr sz="1350" b="0" i="0">
                <a:solidFill>
                  <a:srgbClr val="202C44"/>
                </a:solidFill>
                <a:latin typeface="Calibri"/>
              </a:rPr>
              <a:t>Một lớp attention chọn phần quan trọng nhất với query.</a:t>
            </a:r>
          </a:p>
          <a:p>
            <a:pPr algn="l">
              <a:spcAft>
                <a:spcPts val="1000"/>
              </a:spcAft>
            </a:pPr>
            <a:r>
              <a:rPr sz="1350" b="1" i="0">
                <a:solidFill>
                  <a:srgbClr val="534AB7"/>
                </a:solidFill>
                <a:latin typeface="Calibri"/>
              </a:rPr>
              <a:t>•  </a:t>
            </a:r>
            <a:r>
              <a:rPr sz="1350" b="0" i="0">
                <a:solidFill>
                  <a:srgbClr val="202C44"/>
                </a:solidFill>
                <a:latin typeface="Calibri"/>
              </a:rPr>
              <a:t>Bắt được pattern lặp lại từ rất xa trong quá khứ.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52360" y="1463040"/>
            <a:ext cx="3977639" cy="4343400"/>
          </a:xfrm>
          <a:prstGeom prst="roundRect">
            <a:avLst/>
          </a:prstGeom>
          <a:solidFill>
            <a:srgbClr val="FBF1DF"/>
          </a:solidFill>
          <a:ln w="15875">
            <a:solidFill>
              <a:srgbClr val="E8A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53528" y="1609344"/>
            <a:ext cx="357530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8A33D"/>
                </a:solidFill>
                <a:latin typeface="Calibri"/>
              </a:rPr>
              <a:t>VÍ DỤ XUYÊN SUỐT</a:t>
            </a:r>
            <a:r>
              <a:rPr sz="1150" b="1" i="0">
                <a:solidFill>
                  <a:srgbClr val="202C44"/>
                </a:solidFill>
                <a:latin typeface="Calibri"/>
              </a:rPr>
              <a:t>  China + Cooperate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53528" y="2029968"/>
            <a:ext cx="3575303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250" b="0" i="0">
                <a:solidFill>
                  <a:srgbClr val="202C44"/>
                </a:solidFill>
                <a:latin typeface="Calibri"/>
              </a:rPr>
              <a:t>Subgraph chứa các đối tác hợp tác LÂU DÀI của Trung Quốc.</a:t>
            </a:r>
          </a:p>
          <a:p>
            <a:pPr algn="l">
              <a:spcAft>
                <a:spcPts val="1000"/>
              </a:spcAft>
            </a:pPr>
            <a:r>
              <a:rPr sz="1250" b="0" i="0">
                <a:solidFill>
                  <a:srgbClr val="202C44"/>
                </a:solidFill>
                <a:latin typeface="Calibri"/>
              </a:rPr>
              <a:t>Attention chọn entity xuất hiện nhiều lần trong pattern “Cooperate”.</a:t>
            </a:r>
          </a:p>
          <a:p>
            <a:pPr algn="l"/>
            <a:r>
              <a:rPr sz="1250" b="0" i="0">
                <a:solidFill>
                  <a:srgbClr val="202C44"/>
                </a:solidFill>
                <a:latin typeface="Calibri"/>
              </a:rPr>
              <a:t>Nếu TQ thường “họp bàn” trước khi “ký thỏa thuận”, các sự kiện chuẩn bị từ lâu vẫn được bắt → h_g.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10896"/>
            <a:ext cx="109728" cy="548640"/>
          </a:xfrm>
          <a:prstGeom prst="rect">
            <a:avLst/>
          </a:prstGeom>
          <a:solidFill>
            <a:srgbClr val="993C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9260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993C1D"/>
                </a:solidFill>
                <a:latin typeface="Calibri"/>
              </a:rPr>
              <a:t>PHẦN 2 · LOGCL · THÀNH PHẦN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30352"/>
            <a:ext cx="1106424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202C44"/>
                </a:solidFill>
                <a:latin typeface="Georgia"/>
              </a:rPr>
              <a:t>Local–Global Query Contrast (chống noise)</a:t>
            </a:r>
          </a:p>
        </p:txBody>
      </p:sp>
      <p:sp>
        <p:nvSpPr>
          <p:cNvPr id="6" name="Oval 5"/>
          <p:cNvSpPr/>
          <p:nvPr/>
        </p:nvSpPr>
        <p:spPr>
          <a:xfrm>
            <a:off x="1417320" y="1920239"/>
            <a:ext cx="822960" cy="822960"/>
          </a:xfrm>
          <a:prstGeom prst="ellipse">
            <a:avLst/>
          </a:prstGeom>
          <a:solidFill>
            <a:srgbClr val="E1F5EE"/>
          </a:solidFill>
          <a:ln w="19050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17320" y="1920239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0F6E56"/>
                </a:solidFill>
                <a:latin typeface="Calibri"/>
              </a:rPr>
              <a:t>local</a:t>
            </a:r>
          </a:p>
        </p:txBody>
      </p:sp>
      <p:sp>
        <p:nvSpPr>
          <p:cNvPr id="8" name="Oval 7"/>
          <p:cNvSpPr/>
          <p:nvPr/>
        </p:nvSpPr>
        <p:spPr>
          <a:xfrm>
            <a:off x="3108960" y="1920239"/>
            <a:ext cx="822960" cy="822960"/>
          </a:xfrm>
          <a:prstGeom prst="ellipse">
            <a:avLst/>
          </a:prstGeom>
          <a:solidFill>
            <a:srgbClr val="EEEDFE"/>
          </a:solidFill>
          <a:ln w="19050">
            <a:solidFill>
              <a:srgbClr val="534A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08960" y="1920239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534AB7"/>
                </a:solidFill>
                <a:latin typeface="Calibri"/>
              </a:rPr>
              <a:t>global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240280" y="2331720"/>
            <a:ext cx="868680" cy="0"/>
          </a:xfrm>
          <a:prstGeom prst="line">
            <a:avLst/>
          </a:prstGeom>
          <a:ln w="31750">
            <a:solidFill>
              <a:srgbClr val="12A89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463040" y="288036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2A89D"/>
                </a:solidFill>
                <a:latin typeface="Calibri"/>
              </a:rPr>
              <a:t>cùng query → KÉO GẦN</a:t>
            </a:r>
          </a:p>
        </p:txBody>
      </p:sp>
      <p:sp>
        <p:nvSpPr>
          <p:cNvPr id="12" name="Oval 11"/>
          <p:cNvSpPr/>
          <p:nvPr/>
        </p:nvSpPr>
        <p:spPr>
          <a:xfrm>
            <a:off x="1417320" y="3566159"/>
            <a:ext cx="822960" cy="822960"/>
          </a:xfrm>
          <a:prstGeom prst="ellipse">
            <a:avLst/>
          </a:prstGeom>
          <a:solidFill>
            <a:srgbClr val="E1F5EE"/>
          </a:solidFill>
          <a:ln w="19050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17320" y="3566159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0F6E56"/>
                </a:solidFill>
                <a:latin typeface="Calibri"/>
              </a:rPr>
              <a:t>local</a:t>
            </a:r>
          </a:p>
        </p:txBody>
      </p:sp>
      <p:sp>
        <p:nvSpPr>
          <p:cNvPr id="14" name="Oval 13"/>
          <p:cNvSpPr/>
          <p:nvPr/>
        </p:nvSpPr>
        <p:spPr>
          <a:xfrm>
            <a:off x="3566159" y="3840480"/>
            <a:ext cx="822960" cy="822960"/>
          </a:xfrm>
          <a:prstGeom prst="ellipse">
            <a:avLst/>
          </a:prstGeom>
          <a:solidFill>
            <a:srgbClr val="EEE0E0"/>
          </a:solidFill>
          <a:ln w="19050">
            <a:solidFill>
              <a:srgbClr val="CC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66159" y="384048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CC5555"/>
                </a:solidFill>
                <a:latin typeface="Calibri"/>
              </a:rPr>
              <a:t>q'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240280" y="4023360"/>
            <a:ext cx="1325880" cy="182880"/>
          </a:xfrm>
          <a:prstGeom prst="line">
            <a:avLst/>
          </a:prstGeom>
          <a:ln w="25400">
            <a:solidFill>
              <a:srgbClr val="CC555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554480" y="475488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CC5555"/>
                </a:solidFill>
                <a:latin typeface="Calibri"/>
              </a:rPr>
              <a:t>khác query → ĐẨY XA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94960" y="1463040"/>
            <a:ext cx="6035040" cy="1280160"/>
          </a:xfrm>
          <a:prstGeom prst="roundRect">
            <a:avLst/>
          </a:prstGeom>
          <a:solidFill>
            <a:srgbClr val="0E1A33"/>
          </a:solidFill>
          <a:ln w="12700">
            <a:solidFill>
              <a:srgbClr val="0E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77840" y="1591056"/>
            <a:ext cx="5669279" cy="10607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 i="0">
                <a:solidFill>
                  <a:srgbClr val="E8A33D"/>
                </a:solidFill>
                <a:latin typeface="Calibri"/>
              </a:rPr>
              <a:t>4 contrastive loss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CADCFC"/>
                </a:solidFill>
                <a:latin typeface="Consolas"/>
              </a:rPr>
              <a:t>Cặp dương: (local, global) của CÙNG query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CADCFC"/>
                </a:solidFill>
                <a:latin typeface="Consolas"/>
              </a:rPr>
              <a:t>Cặp âm: query KHÁC nhau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CADCFC"/>
                </a:solidFill>
                <a:latin typeface="Consolas"/>
              </a:rPr>
              <a:t>L_cl = L_lg + L_gl + L_ll + L_gg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94960" y="2926080"/>
            <a:ext cx="60350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350" b="1" i="0">
                <a:solidFill>
                  <a:srgbClr val="993C1D"/>
                </a:solidFill>
                <a:latin typeface="Calibri"/>
              </a:rPr>
              <a:t>•  </a:t>
            </a:r>
            <a:r>
              <a:rPr sz="1350" b="0" i="0">
                <a:solidFill>
                  <a:srgbClr val="202C44"/>
                </a:solidFill>
                <a:latin typeface="Calibri"/>
              </a:rPr>
              <a:t>Local dễ nhiễu; global ổn định.</a:t>
            </a:r>
          </a:p>
          <a:p>
            <a:pPr algn="l">
              <a:spcAft>
                <a:spcPts val="900"/>
              </a:spcAft>
            </a:pPr>
            <a:r>
              <a:rPr sz="1350" b="1" i="0">
                <a:solidFill>
                  <a:srgbClr val="993C1D"/>
                </a:solidFill>
                <a:latin typeface="Calibri"/>
              </a:rPr>
              <a:t>•  </a:t>
            </a:r>
            <a:r>
              <a:rPr sz="1350" b="0" i="0">
                <a:solidFill>
                  <a:srgbClr val="202C44"/>
                </a:solidFill>
                <a:latin typeface="Calibri"/>
              </a:rPr>
              <a:t>Kéo 2 view lại gần buộc local học đặc trưng BỀN, không phụ thuộc chi tiết bề mặt dễ nhiễu.</a:t>
            </a:r>
          </a:p>
          <a:p>
            <a:pPr algn="l">
              <a:spcAft>
                <a:spcPts val="900"/>
              </a:spcAft>
            </a:pPr>
            <a:r>
              <a:rPr sz="1350" b="1" i="0">
                <a:solidFill>
                  <a:srgbClr val="993C1D"/>
                </a:solidFill>
                <a:latin typeface="Calibri"/>
              </a:rPr>
              <a:t>•  </a:t>
            </a:r>
            <a:r>
              <a:rPr sz="1350" b="0" i="0">
                <a:solidFill>
                  <a:srgbClr val="202C44"/>
                </a:solidFill>
                <a:latin typeface="Calibri"/>
              </a:rPr>
              <a:t>→ Mô hình chống noise tốt hơn hẳn.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394960" y="4892040"/>
            <a:ext cx="6035040" cy="914400"/>
          </a:xfrm>
          <a:prstGeom prst="roundRect">
            <a:avLst/>
          </a:prstGeom>
          <a:solidFill>
            <a:srgbClr val="FBF1DF"/>
          </a:solidFill>
          <a:ln w="15875">
            <a:solidFill>
              <a:srgbClr val="E8A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596128" y="5038344"/>
            <a:ext cx="563270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8A33D"/>
                </a:solidFill>
                <a:latin typeface="Calibri"/>
              </a:rPr>
              <a:t>VÍ DỤ XUYÊN SUỐT</a:t>
            </a:r>
            <a:r>
              <a:rPr sz="1150" b="1" i="0">
                <a:solidFill>
                  <a:srgbClr val="202C44"/>
                </a:solidFill>
                <a:latin typeface="Calibri"/>
              </a:rPr>
              <a:t>  Hiệu quả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96128" y="5458968"/>
            <a:ext cx="5632703" cy="20116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202C44"/>
                </a:solidFill>
                <a:latin typeface="Calibri"/>
              </a:rPr>
              <a:t>Khi thêm noise, LogCL giảm ÍT hơn nhiều so với RE-GCN/TiRGN.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10896"/>
            <a:ext cx="109728" cy="548640"/>
          </a:xfrm>
          <a:prstGeom prst="rect">
            <a:avLst/>
          </a:prstGeom>
          <a:solidFill>
            <a:srgbClr val="3B6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9260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3B6FD4"/>
                </a:solidFill>
                <a:latin typeface="Calibri"/>
              </a:rPr>
              <a:t>PHẦN 2 · LOGCL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30352"/>
            <a:ext cx="1106424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202C44"/>
                </a:solidFill>
                <a:latin typeface="Georgia"/>
              </a:rPr>
              <a:t>Ví dụ end-to-end: (China, Cooperate, ?, t_q)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554480"/>
            <a:ext cx="3429000" cy="4160520"/>
          </a:xfrm>
          <a:prstGeom prst="roundRect">
            <a:avLst/>
          </a:prstGeom>
          <a:solidFill>
            <a:srgbClr val="E1F5EE"/>
          </a:solidFill>
          <a:ln w="12700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91640"/>
            <a:ext cx="31089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0F6E56"/>
                </a:solidFill>
                <a:latin typeface="Georgia"/>
              </a:rPr>
              <a:t>Local encoder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94560"/>
            <a:ext cx="315468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250" b="1" i="0">
                <a:solidFill>
                  <a:srgbClr val="202C44"/>
                </a:solidFill>
                <a:latin typeface="Calibri"/>
              </a:rPr>
              <a:t>Nhìn 7 snapshot gần.</a:t>
            </a:r>
          </a:p>
          <a:p>
            <a:pPr algn="l">
              <a:spcAft>
                <a:spcPts val="700"/>
              </a:spcAft>
            </a:pPr>
            <a:r>
              <a:rPr sz="1250" b="0" i="0">
                <a:solidFill>
                  <a:srgbClr val="202C44"/>
                </a:solidFill>
                <a:latin typeface="Calibri"/>
              </a:rPr>
              <a:t>t_q−2: China vắng → α thấp.</a:t>
            </a:r>
          </a:p>
          <a:p>
            <a:pPr algn="l">
              <a:spcAft>
                <a:spcPts val="700"/>
              </a:spcAft>
            </a:pPr>
            <a:r>
              <a:rPr sz="1250" b="0" i="0">
                <a:solidFill>
                  <a:srgbClr val="202C44"/>
                </a:solidFill>
                <a:latin typeface="Calibri"/>
              </a:rPr>
              <a:t>t_q−1: China “Make a visit” → α cao.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202C44"/>
                </a:solidFill>
                <a:latin typeface="Calibri"/>
              </a:rPr>
              <a:t>GRU tổng hợp chuỗi → </a:t>
            </a:r>
            <a:r>
              <a:rPr sz="1250" b="1" i="0">
                <a:solidFill>
                  <a:srgbClr val="0F6E56"/>
                </a:solidFill>
                <a:latin typeface="Calibri"/>
              </a:rPr>
              <a:t>h_tq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554480"/>
            <a:ext cx="3429000" cy="4160520"/>
          </a:xfrm>
          <a:prstGeom prst="roundRect">
            <a:avLst/>
          </a:prstGeom>
          <a:solidFill>
            <a:srgbClr val="EEEDFE"/>
          </a:solidFill>
          <a:ln w="12700">
            <a:solidFill>
              <a:srgbClr val="534A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691640"/>
            <a:ext cx="31089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534AB7"/>
                </a:solidFill>
                <a:latin typeface="Georgia"/>
              </a:rPr>
              <a:t>Global encoder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2194560"/>
            <a:ext cx="315468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250" b="0" i="0">
                <a:solidFill>
                  <a:srgbClr val="202C44"/>
                </a:solidFill>
                <a:latin typeface="Calibri"/>
              </a:rPr>
              <a:t>Lấy toàn lịch sử liên quan China + Cooperate.</a:t>
            </a:r>
          </a:p>
          <a:p>
            <a:pPr algn="l">
              <a:spcAft>
                <a:spcPts val="700"/>
              </a:spcAft>
            </a:pPr>
            <a:r>
              <a:rPr sz="1250" b="0" i="0">
                <a:solidFill>
                  <a:srgbClr val="202C44"/>
                </a:solidFill>
                <a:latin typeface="Calibri"/>
              </a:rPr>
              <a:t>Subgraph: đối tác hợp tác lâu dài.</a:t>
            </a:r>
          </a:p>
          <a:p>
            <a:pPr algn="l">
              <a:spcAft>
                <a:spcPts val="700"/>
              </a:spcAft>
            </a:pPr>
            <a:r>
              <a:rPr sz="1250" b="0" i="0">
                <a:solidFill>
                  <a:srgbClr val="202C44"/>
                </a:solidFill>
                <a:latin typeface="Calibri"/>
              </a:rPr>
              <a:t>Attention chọn entity lặp nhiều trong pattern Cooperate.</a:t>
            </a:r>
          </a:p>
          <a:p>
            <a:pPr algn="l"/>
            <a:r>
              <a:rPr sz="1250" b="0" i="0">
                <a:solidFill>
                  <a:srgbClr val="202C44"/>
                </a:solidFill>
                <a:latin typeface="Calibri"/>
              </a:rPr>
              <a:t>→ </a:t>
            </a:r>
            <a:r>
              <a:rPr sz="1250" b="1" i="0">
                <a:solidFill>
                  <a:srgbClr val="534AB7"/>
                </a:solidFill>
                <a:latin typeface="Calibri"/>
              </a:rPr>
              <a:t>h_g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09560" y="1554480"/>
            <a:ext cx="3474720" cy="4160520"/>
          </a:xfrm>
          <a:prstGeom prst="roundRect">
            <a:avLst/>
          </a:prstGeom>
          <a:solidFill>
            <a:srgbClr val="FBF1DF"/>
          </a:solidFill>
          <a:ln w="12700">
            <a:solidFill>
              <a:srgbClr val="E8A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92440" y="1691640"/>
            <a:ext cx="3154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E8A33D"/>
                </a:solidFill>
                <a:latin typeface="Georgia"/>
              </a:rPr>
              <a:t>Prediction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440" y="2194560"/>
            <a:ext cx="315468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202C44"/>
                </a:solidFill>
                <a:latin typeface="Calibri"/>
              </a:rPr>
              <a:t>Kết hợp theo λ (≈0.9, thiên local):</a:t>
            </a:r>
          </a:p>
          <a:p>
            <a:pPr algn="l">
              <a:spcAft>
                <a:spcPts val="1000"/>
              </a:spcAft>
            </a:pPr>
            <a:r>
              <a:rPr sz="1250" b="1" i="0">
                <a:solidFill>
                  <a:srgbClr val="202C44"/>
                </a:solidFill>
                <a:latin typeface="Consolas"/>
              </a:rPr>
              <a:t>ĥ = λ·h_tq + (1−λ)·h_g</a:t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202C44"/>
                </a:solidFill>
                <a:latin typeface="Calibri"/>
              </a:rPr>
              <a:t>Đưa vào ConvTransE →</a:t>
            </a:r>
          </a:p>
          <a:p>
            <a:pPr algn="l"/>
            <a:r>
              <a:rPr sz="1250" b="1" i="0">
                <a:solidFill>
                  <a:srgbClr val="E8A33D"/>
                </a:solidFill>
                <a:latin typeface="Calibri"/>
              </a:rPr>
              <a:t>xác suất cho MỌI entity.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10896"/>
            <a:ext cx="109728" cy="548640"/>
          </a:xfrm>
          <a:prstGeom prst="rect">
            <a:avLst/>
          </a:prstGeom>
          <a:solidFill>
            <a:srgbClr val="3B6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9260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3B6FD4"/>
                </a:solidFill>
                <a:latin typeface="Calibri"/>
              </a:rPr>
              <a:t>PHẦN 2 · LOGCL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30352"/>
            <a:ext cx="1106424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202C44"/>
                </a:solidFill>
                <a:latin typeface="Georgia"/>
              </a:rPr>
              <a:t>Kết quả &amp; ablation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00200"/>
            <a:ext cx="5120640" cy="1828800"/>
          </a:xfrm>
          <a:prstGeom prst="roundRect">
            <a:avLst/>
          </a:prstGeom>
          <a:solidFill>
            <a:srgbClr val="E7EEFB"/>
          </a:solidFill>
          <a:ln w="12700">
            <a:solidFill>
              <a:srgbClr val="E7EE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4663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3B6FD4"/>
                </a:solidFill>
                <a:latin typeface="Georgia"/>
              </a:rPr>
              <a:t>Hiệu năng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286000"/>
            <a:ext cx="47091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202C44"/>
                </a:solidFill>
                <a:latin typeface="Calibri"/>
              </a:rPr>
              <a:t>MRR cao hơn baseline tốt nhất (HisMatch) </a:t>
            </a:r>
            <a:r>
              <a:rPr sz="1400" b="1" i="0">
                <a:solidFill>
                  <a:srgbClr val="3B6FD4"/>
                </a:solidFill>
                <a:latin typeface="Calibri"/>
              </a:rPr>
              <a:t>4.9%–7.9%</a:t>
            </a:r>
            <a:r>
              <a:rPr sz="1350" b="0" i="0">
                <a:solidFill>
                  <a:srgbClr val="202C44"/>
                </a:solidFill>
                <a:latin typeface="Calibri"/>
              </a:rPr>
              <a:t> trên 4 dataset; và giảm ÍT hơn nhiều khi thêm noise.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3611880"/>
            <a:ext cx="5120640" cy="2194560"/>
          </a:xfrm>
          <a:prstGeom prst="roundRect">
            <a:avLst/>
          </a:prstGeom>
          <a:solidFill>
            <a:srgbClr val="FAECE7"/>
          </a:solidFill>
          <a:ln w="12700">
            <a:solidFill>
              <a:srgbClr val="FAE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794760"/>
            <a:ext cx="4663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993C1D"/>
                </a:solidFill>
                <a:latin typeface="Georgia"/>
              </a:rPr>
              <a:t>Vì sao bền với noise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297680"/>
            <a:ext cx="47091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202C44"/>
                </a:solidFill>
                <a:latin typeface="Calibri"/>
              </a:rPr>
              <a:t>Module contrastive ép local học đặc trưng bền theo global ổn định → ít “lung lay” trước nhiễu (khác hẳn RE-GCN/TiRGN).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600200"/>
            <a:ext cx="525780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783080"/>
            <a:ext cx="4846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02C44"/>
                </a:solidFill>
                <a:latin typeface="Georgia"/>
              </a:rPr>
              <a:t>Ablation (đóng góp từng phần)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2331720"/>
            <a:ext cx="4800600" cy="960120"/>
          </a:xfrm>
          <a:prstGeom prst="roundRect">
            <a:avLst/>
          </a:prstGeom>
          <a:solidFill>
            <a:srgbClr val="F4F6FB"/>
          </a:solidFill>
          <a:ln w="12700">
            <a:solidFill>
              <a:srgbClr val="D7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5080" y="2331720"/>
            <a:ext cx="82296" cy="960120"/>
          </a:xfrm>
          <a:prstGeom prst="rect">
            <a:avLst/>
          </a:prstGeom>
          <a:solidFill>
            <a:srgbClr val="534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2450591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202C44"/>
                </a:solidFill>
                <a:latin typeface="Calibri"/>
              </a:rPr>
              <a:t>Bỏ Global (LogCL-L)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834639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34AB7"/>
                </a:solidFill>
                <a:latin typeface="Calibri"/>
              </a:rPr>
              <a:t>− 4–5% MRR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3429000"/>
            <a:ext cx="4800600" cy="960120"/>
          </a:xfrm>
          <a:prstGeom prst="roundRect">
            <a:avLst/>
          </a:prstGeom>
          <a:solidFill>
            <a:srgbClr val="F4F6FB"/>
          </a:solidFill>
          <a:ln w="12700">
            <a:solidFill>
              <a:srgbClr val="D7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5080" y="3429000"/>
            <a:ext cx="82296" cy="960120"/>
          </a:xfrm>
          <a:prstGeom prst="rect">
            <a:avLst/>
          </a:prstGeom>
          <a:solidFill>
            <a:srgbClr val="3B6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3547872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202C44"/>
                </a:solidFill>
                <a:latin typeface="Calibri"/>
              </a:rPr>
              <a:t>Bỏ Entity-Aware Attention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3931920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3B6FD4"/>
                </a:solidFill>
                <a:latin typeface="Calibri"/>
              </a:rPr>
              <a:t>− 8–10% MRR  (lớn nhất)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55080" y="4526280"/>
            <a:ext cx="4800600" cy="960120"/>
          </a:xfrm>
          <a:prstGeom prst="roundRect">
            <a:avLst/>
          </a:prstGeom>
          <a:solidFill>
            <a:srgbClr val="F4F6FB"/>
          </a:solidFill>
          <a:ln w="12700">
            <a:solidFill>
              <a:srgbClr val="D7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55080" y="4526280"/>
            <a:ext cx="82296" cy="960120"/>
          </a:xfrm>
          <a:prstGeom prst="rect">
            <a:avLst/>
          </a:prstGeom>
          <a:solidFill>
            <a:srgbClr val="993C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0" y="4645152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202C44"/>
                </a:solidFill>
                <a:latin typeface="Calibri"/>
              </a:rPr>
              <a:t>Bỏ Contrastive (w/o-cl)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5029200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993C1D"/>
                </a:solidFill>
                <a:latin typeface="Calibri"/>
              </a:rPr>
              <a:t>≈ ngang lúc thường, TỤT rõ khi có noise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" y="2240280"/>
            <a:ext cx="868680" cy="868680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40280"/>
            <a:ext cx="868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14213D"/>
                </a:solidFill>
                <a:latin typeface="Georgia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5960" y="2194560"/>
            <a:ext cx="9509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Georgia"/>
              </a:rPr>
              <a:t>DEPTH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0" y="3108960"/>
            <a:ext cx="2743200" cy="4572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93392" y="3273552"/>
            <a:ext cx="9509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CADCFC"/>
                </a:solidFill>
                <a:latin typeface="Calibri"/>
              </a:rPr>
              <a:t>Hợp nhất nhúng + đường: 1 động lực · 3 thành phần · end-to-end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10896"/>
            <a:ext cx="109728" cy="54864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9260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E8A33D"/>
                </a:solidFill>
                <a:latin typeface="Calibri"/>
              </a:rPr>
              <a:t>PHẦN 3 · DEPTH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30352"/>
            <a:ext cx="1106424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202C44"/>
                </a:solidFill>
                <a:latin typeface="Georgia"/>
              </a:rPr>
              <a:t>Động lực: hai họ suy luận BÙ NHAU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00200"/>
            <a:ext cx="5120640" cy="3657600"/>
          </a:xfrm>
          <a:prstGeom prst="roundRect">
            <a:avLst/>
          </a:prstGeom>
          <a:solidFill>
            <a:srgbClr val="E7EEFB"/>
          </a:solidFill>
          <a:ln w="12700">
            <a:solidFill>
              <a:srgbClr val="E7EE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00200"/>
            <a:ext cx="5120640" cy="91440"/>
          </a:xfrm>
          <a:prstGeom prst="rect">
            <a:avLst/>
          </a:prstGeom>
          <a:solidFill>
            <a:srgbClr val="3B6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783080"/>
            <a:ext cx="4663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3B6FD4"/>
                </a:solidFill>
                <a:latin typeface="Georgia"/>
              </a:rPr>
              <a:t>Nhánh Nhúng (LogCL)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377440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3B6FD4"/>
                </a:solidFill>
                <a:latin typeface="Calibri"/>
              </a:rPr>
              <a:t>✓  </a:t>
            </a:r>
            <a:r>
              <a:rPr sz="1350" b="0" i="0">
                <a:solidFill>
                  <a:srgbClr val="202C44"/>
                </a:solidFill>
                <a:latin typeface="Calibri"/>
              </a:rPr>
              <a:t>Điểm DÀY — phủ mọi thực thể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035808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3B6FD4"/>
                </a:solidFill>
                <a:latin typeface="Calibri"/>
              </a:rPr>
              <a:t>✓  </a:t>
            </a:r>
            <a:r>
              <a:rPr sz="1350" b="0" i="0">
                <a:solidFill>
                  <a:srgbClr val="202C44"/>
                </a:solidFill>
                <a:latin typeface="Calibri"/>
              </a:rPr>
              <a:t>Mạnh: thống kê, tương đồng, tần suất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694176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CC5555"/>
                </a:solidFill>
                <a:latin typeface="Calibri"/>
              </a:rPr>
              <a:t>✗  </a:t>
            </a:r>
            <a:r>
              <a:rPr sz="1350" b="0" i="0">
                <a:solidFill>
                  <a:srgbClr val="202C44"/>
                </a:solidFill>
                <a:latin typeface="Calibri"/>
              </a:rPr>
              <a:t>Yếu: thiên lệch độ phổ biến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4352544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CC5555"/>
                </a:solidFill>
                <a:latin typeface="Calibri"/>
              </a:rPr>
              <a:t>✗  </a:t>
            </a:r>
            <a:r>
              <a:rPr sz="1350" b="0" i="0">
                <a:solidFill>
                  <a:srgbClr val="202C44"/>
                </a:solidFill>
                <a:latin typeface="Calibri"/>
              </a:rPr>
              <a:t>Transductive (cần entity-id)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600200"/>
            <a:ext cx="5120640" cy="3657600"/>
          </a:xfrm>
          <a:prstGeom prst="roundRect">
            <a:avLst/>
          </a:prstGeom>
          <a:solidFill>
            <a:srgbClr val="E1F4F2"/>
          </a:solidFill>
          <a:ln w="12700">
            <a:solidFill>
              <a:srgbClr val="E1F4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600200"/>
            <a:ext cx="5120640" cy="91440"/>
          </a:xfrm>
          <a:prstGeom prst="rect">
            <a:avLst/>
          </a:prstGeom>
          <a:solidFill>
            <a:srgbClr val="12A8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1783080"/>
            <a:ext cx="4663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2A89D"/>
                </a:solidFill>
                <a:latin typeface="Georgia"/>
              </a:rPr>
              <a:t>Nhánh Đường (CognTKE)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0840" y="2377440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2A89D"/>
                </a:solidFill>
                <a:latin typeface="Calibri"/>
              </a:rPr>
              <a:t>✓  </a:t>
            </a:r>
            <a:r>
              <a:rPr sz="1350" b="0" i="0">
                <a:solidFill>
                  <a:srgbClr val="202C44"/>
                </a:solidFill>
                <a:latin typeface="Calibri"/>
              </a:rPr>
              <a:t>Điểm THƯA — chỉ thực thể có đường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0840" y="3035808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2A89D"/>
                </a:solidFill>
                <a:latin typeface="Calibri"/>
              </a:rPr>
              <a:t>✓  </a:t>
            </a:r>
            <a:r>
              <a:rPr sz="1350" b="0" i="0">
                <a:solidFill>
                  <a:srgbClr val="202C44"/>
                </a:solidFill>
                <a:latin typeface="Calibri"/>
              </a:rPr>
              <a:t>Mạnh: suy luận cấu trúc đa-hop, có căn cứ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3694176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CC5555"/>
                </a:solidFill>
                <a:latin typeface="Calibri"/>
              </a:rPr>
              <a:t>✗  </a:t>
            </a:r>
            <a:r>
              <a:rPr sz="1350" b="0" i="0">
                <a:solidFill>
                  <a:srgbClr val="202C44"/>
                </a:solidFill>
                <a:latin typeface="Calibri"/>
              </a:rPr>
              <a:t>Yếu: = 0 khi không có đường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4352544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2A89D"/>
                </a:solidFill>
                <a:latin typeface="Calibri"/>
              </a:rPr>
              <a:t>✓  </a:t>
            </a:r>
            <a:r>
              <a:rPr sz="1350" b="0" i="0">
                <a:solidFill>
                  <a:srgbClr val="202C44"/>
                </a:solidFill>
                <a:latin typeface="Calibri"/>
              </a:rPr>
              <a:t>Inductive (chỉ dùng quan hệ)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5440680"/>
            <a:ext cx="10607040" cy="777240"/>
          </a:xfrm>
          <a:prstGeom prst="roundRect">
            <a:avLst/>
          </a:prstGeom>
          <a:solidFill>
            <a:srgbClr val="FBF1DF"/>
          </a:solidFill>
          <a:ln w="12700">
            <a:solidFill>
              <a:srgbClr val="E8A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5532120"/>
            <a:ext cx="1014984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202C44"/>
                </a:solidFill>
                <a:latin typeface="Calibri"/>
              </a:rPr>
              <a:t>Hai nhánh SAI ở các truy vấn KHÁC nhau (lỗi trực giao) → gộp lại thì bù trừ; điểm yếu “thiên lệch phổ biến” của nhúng được nhánh đường sửa.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10896"/>
            <a:ext cx="109728" cy="54864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9260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E8A33D"/>
                </a:solidFill>
                <a:latin typeface="Calibri"/>
              </a:rPr>
              <a:t>PHẦN 3 · DEPTH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30352"/>
            <a:ext cx="1106424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202C44"/>
                </a:solidFill>
                <a:latin typeface="Georgia"/>
              </a:rPr>
              <a:t>Sơ đồ kiến trúc tổng thể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63040" y="1280160"/>
            <a:ext cx="9235440" cy="457200"/>
          </a:xfrm>
          <a:prstGeom prst="roundRect">
            <a:avLst/>
          </a:prstGeom>
          <a:solidFill>
            <a:srgbClr val="F1EFE8"/>
          </a:solidFill>
          <a:ln w="9525">
            <a:solidFill>
              <a:srgbClr val="5F5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1280160"/>
            <a:ext cx="9235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202C44"/>
                </a:solidFill>
                <a:latin typeface="Calibri"/>
              </a:rPr>
              <a:t>Truy vấn (s, r, ?, t)  ·  lịch sử K snapshot</a:t>
            </a:r>
          </a:p>
        </p:txBody>
      </p:sp>
      <p:sp>
        <p:nvSpPr>
          <p:cNvPr id="8" name="Down Arrow 7"/>
          <p:cNvSpPr/>
          <p:nvPr/>
        </p:nvSpPr>
        <p:spPr>
          <a:xfrm>
            <a:off x="5907024" y="1755648"/>
            <a:ext cx="292608" cy="256032"/>
          </a:xfrm>
          <a:prstGeom prst="downArrow">
            <a:avLst/>
          </a:prstGeom>
          <a:solidFill>
            <a:srgbClr val="AA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463040" y="2084831"/>
            <a:ext cx="9235440" cy="548640"/>
          </a:xfrm>
          <a:prstGeom prst="roundRect">
            <a:avLst/>
          </a:prstGeom>
          <a:solidFill>
            <a:srgbClr val="14213D"/>
          </a:solidFill>
          <a:ln w="12700">
            <a:solidFill>
              <a:srgbClr val="1421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63040" y="2084831"/>
            <a:ext cx="92354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SHARED BACKBONE — RE-GCN + GRU · emb_rel DÙNG CHUNG  →  H ∈ ℝ^(N×d)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3154680" y="2670048"/>
            <a:ext cx="274320" cy="256032"/>
          </a:xfrm>
          <a:prstGeom prst="downArrow">
            <a:avLst/>
          </a:prstGeom>
          <a:solidFill>
            <a:srgbClr val="AA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own Arrow 11"/>
          <p:cNvSpPr/>
          <p:nvPr/>
        </p:nvSpPr>
        <p:spPr>
          <a:xfrm>
            <a:off x="8686800" y="2670048"/>
            <a:ext cx="274320" cy="256032"/>
          </a:xfrm>
          <a:prstGeom prst="downArrow">
            <a:avLst/>
          </a:prstGeom>
          <a:solidFill>
            <a:srgbClr val="AA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22960" y="3017520"/>
            <a:ext cx="5029200" cy="1325880"/>
          </a:xfrm>
          <a:prstGeom prst="roundRect">
            <a:avLst/>
          </a:prstGeom>
          <a:solidFill>
            <a:srgbClr val="E7EEFB"/>
          </a:solidFill>
          <a:ln w="12700">
            <a:solidFill>
              <a:srgbClr val="3B6F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127248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3B6FD4"/>
                </a:solidFill>
                <a:latin typeface="Georgia"/>
              </a:rPr>
              <a:t>Head A · Embedding  (= LogCL)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51560" y="3584448"/>
            <a:ext cx="4572000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3B6F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3584448"/>
            <a:ext cx="45720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3B6FD4"/>
                </a:solidFill>
                <a:latin typeface="Calibri"/>
              </a:rPr>
              <a:t>ConvTransE  →  S_embed ∈ ℝ^(B×N)  (DÀY)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3017520"/>
            <a:ext cx="5029200" cy="1325880"/>
          </a:xfrm>
          <a:prstGeom prst="roundRect">
            <a:avLst/>
          </a:prstGeom>
          <a:solidFill>
            <a:srgbClr val="E1F4F2"/>
          </a:solidFill>
          <a:ln w="12700">
            <a:solidFill>
              <a:srgbClr val="12A8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3127248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12A89D"/>
                </a:solidFill>
                <a:latin typeface="Georgia"/>
              </a:rPr>
              <a:t>Head B · Path  (mới, inline)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0" y="3529584"/>
            <a:ext cx="4572000" cy="3657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12A8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3529584"/>
            <a:ext cx="4572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2A89D"/>
                </a:solidFill>
                <a:latin typeface="Calibri"/>
              </a:rPr>
              <a:t>① boundary init tại subject 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0" y="3950208"/>
            <a:ext cx="4572000" cy="3657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12A8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3950208"/>
            <a:ext cx="4572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2A89D"/>
                </a:solidFill>
                <a:latin typeface="Calibri"/>
              </a:rPr>
              <a:t>② L=2 hop → S_path ∈ ℝ^(B×N) (THƯA)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291840" y="4343400"/>
            <a:ext cx="1828800" cy="210312"/>
          </a:xfrm>
          <a:prstGeom prst="line">
            <a:avLst/>
          </a:prstGeom>
          <a:ln w="20320">
            <a:solidFill>
              <a:srgbClr val="E8A33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6858000" y="4343400"/>
            <a:ext cx="2011680" cy="210312"/>
          </a:xfrm>
          <a:prstGeom prst="line">
            <a:avLst/>
          </a:prstGeom>
          <a:ln w="20320">
            <a:solidFill>
              <a:srgbClr val="E8A33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3977639" y="4553712"/>
            <a:ext cx="4206240" cy="548640"/>
          </a:xfrm>
          <a:prstGeom prst="roundRect">
            <a:avLst/>
          </a:prstGeom>
          <a:solidFill>
            <a:srgbClr val="FBF1DF"/>
          </a:solidFill>
          <a:ln w="12700">
            <a:solidFill>
              <a:srgbClr val="E8A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977639" y="4553712"/>
            <a:ext cx="42062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202C44"/>
                </a:solidFill>
                <a:latin typeface="Calibri"/>
              </a:rPr>
              <a:t>FUSION:  S = S_embed + γ · z(S_path)</a:t>
            </a:r>
          </a:p>
        </p:txBody>
      </p:sp>
      <p:sp>
        <p:nvSpPr>
          <p:cNvPr id="27" name="Down Arrow 26"/>
          <p:cNvSpPr/>
          <p:nvPr/>
        </p:nvSpPr>
        <p:spPr>
          <a:xfrm>
            <a:off x="5907024" y="5120640"/>
            <a:ext cx="274320" cy="237744"/>
          </a:xfrm>
          <a:prstGeom prst="downArrow">
            <a:avLst/>
          </a:prstGeom>
          <a:solidFill>
            <a:srgbClr val="AA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572000" y="5413248"/>
            <a:ext cx="3017520" cy="438912"/>
          </a:xfrm>
          <a:prstGeom prst="roundRect">
            <a:avLst/>
          </a:prstGeom>
          <a:solidFill>
            <a:srgbClr val="1E2F55"/>
          </a:solidFill>
          <a:ln w="12700">
            <a:solidFill>
              <a:srgbClr val="1E2F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0" y="5413248"/>
            <a:ext cx="301752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softmax → ranking</a:t>
            </a:r>
          </a:p>
        </p:txBody>
      </p:sp>
      <p:sp>
        <p:nvSpPr>
          <p:cNvPr id="30" name="Down Arrow 29"/>
          <p:cNvSpPr/>
          <p:nvPr/>
        </p:nvSpPr>
        <p:spPr>
          <a:xfrm>
            <a:off x="5907024" y="5870448"/>
            <a:ext cx="274320" cy="219456"/>
          </a:xfrm>
          <a:prstGeom prst="downArrow">
            <a:avLst/>
          </a:prstGeom>
          <a:solidFill>
            <a:srgbClr val="AA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3749039" y="6126480"/>
            <a:ext cx="4663440" cy="420624"/>
          </a:xfrm>
          <a:prstGeom prst="roundRect">
            <a:avLst/>
          </a:prstGeom>
          <a:solidFill>
            <a:srgbClr val="EAF3DE"/>
          </a:solidFill>
          <a:ln w="9525">
            <a:solidFill>
              <a:srgbClr val="3B6D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749039" y="6126480"/>
            <a:ext cx="46634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3B6D11"/>
                </a:solidFill>
                <a:latin typeface="Calibri"/>
              </a:rPr>
              <a:t>L = L_object + L_contrastive + L_static  (end-to-end)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10896"/>
            <a:ext cx="109728" cy="548640"/>
          </a:xfrm>
          <a:prstGeom prst="rect">
            <a:avLst/>
          </a:prstGeom>
          <a:solidFill>
            <a:srgbClr val="3B6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9260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3B6FD4"/>
                </a:solidFill>
                <a:latin typeface="Calibri"/>
              </a:rPr>
              <a:t>PHẦN 3 · DEPTH · THÀNH PHẦN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30352"/>
            <a:ext cx="1106424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202C44"/>
                </a:solidFill>
                <a:latin typeface="Georgia"/>
              </a:rPr>
              <a:t>Backbone dùng chung + Head A (Embedding)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554480"/>
            <a:ext cx="649224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350" b="1" i="0">
                <a:solidFill>
                  <a:srgbClr val="3B6FD4"/>
                </a:solidFill>
                <a:latin typeface="Calibri"/>
              </a:rPr>
              <a:t>•  </a:t>
            </a:r>
            <a:r>
              <a:rPr sz="1350" b="0" i="0">
                <a:solidFill>
                  <a:srgbClr val="202C44"/>
                </a:solidFill>
                <a:latin typeface="Calibri"/>
              </a:rPr>
              <a:t>Cùng RE-GCN+GRU như LogCL tạo biểu diễn thực thể tiến hóa H ∈ ℝ^(N×d).</a:t>
            </a:r>
          </a:p>
          <a:p>
            <a:pPr algn="l">
              <a:spcAft>
                <a:spcPts val="1000"/>
              </a:spcAft>
            </a:pPr>
            <a:r>
              <a:rPr sz="1350" b="1" i="0">
                <a:solidFill>
                  <a:srgbClr val="3B6FD4"/>
                </a:solidFill>
                <a:latin typeface="Calibri"/>
              </a:rPr>
              <a:t>•  </a:t>
            </a:r>
            <a:r>
              <a:rPr sz="1350" b="0" i="0">
                <a:solidFill>
                  <a:srgbClr val="202C44"/>
                </a:solidFill>
                <a:latin typeface="Calibri"/>
              </a:rPr>
              <a:t>Bảng quan hệ emb_rel ∈ ℝ^(2R×d) là “cầu nối” chung cho cả hai head.</a:t>
            </a:r>
          </a:p>
          <a:p>
            <a:pPr algn="l">
              <a:spcAft>
                <a:spcPts val="1000"/>
              </a:spcAft>
            </a:pPr>
            <a:r>
              <a:rPr sz="1350" b="1" i="0">
                <a:solidFill>
                  <a:srgbClr val="3B6FD4"/>
                </a:solidFill>
                <a:latin typeface="Calibri"/>
              </a:rPr>
              <a:t>•  </a:t>
            </a:r>
            <a:r>
              <a:rPr sz="1350" b="0" i="0">
                <a:solidFill>
                  <a:srgbClr val="202C44"/>
                </a:solidFill>
                <a:latin typeface="Calibri"/>
              </a:rPr>
              <a:t>Head A = decoder ConvTransE của LogCL: ghép (ĥ_s, r) → chấm điểm mọi thực thể.</a:t>
            </a:r>
          </a:p>
          <a:p>
            <a:pPr algn="l">
              <a:spcAft>
                <a:spcPts val="1000"/>
              </a:spcAft>
            </a:pPr>
            <a:r>
              <a:rPr sz="1350" b="1" i="0">
                <a:solidFill>
                  <a:srgbClr val="3B6FD4"/>
                </a:solidFill>
                <a:latin typeface="Calibri"/>
              </a:rPr>
              <a:t>•  </a:t>
            </a:r>
            <a:r>
              <a:rPr sz="1350" b="0" i="0">
                <a:solidFill>
                  <a:srgbClr val="202C44"/>
                </a:solidFill>
                <a:latin typeface="Calibri"/>
              </a:rPr>
              <a:t>Kết quả: S_embed — điểm DÀY cho toàn bộ 7128 thực thể.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52360" y="1554480"/>
            <a:ext cx="3977639" cy="1828800"/>
          </a:xfrm>
          <a:prstGeom prst="roundRect">
            <a:avLst/>
          </a:prstGeom>
          <a:solidFill>
            <a:srgbClr val="0E1A33"/>
          </a:solidFill>
          <a:ln w="12700">
            <a:solidFill>
              <a:srgbClr val="0E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35240" y="1682495"/>
            <a:ext cx="3611879" cy="16093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 i="0">
                <a:solidFill>
                  <a:srgbClr val="E8A33D"/>
                </a:solidFill>
                <a:latin typeface="Calibri"/>
              </a:rPr>
              <a:t>Head A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CADCFC"/>
                </a:solidFill>
                <a:latin typeface="Consolas"/>
              </a:rPr>
              <a:t>H = GRU-RGCN(G(t-7..t-1))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CADCFC"/>
                </a:solidFill>
                <a:latin typeface="Consolas"/>
              </a:rPr>
              <a:t>S_embed[o] = ConvTransE(ĥ_s, r) · h_o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CADCFC"/>
                </a:solidFill>
                <a:latin typeface="Consolas"/>
              </a:rPr>
              <a:t>                    ∈ ℝ^(B×N)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52360" y="3611880"/>
            <a:ext cx="3977639" cy="2194560"/>
          </a:xfrm>
          <a:prstGeom prst="roundRect">
            <a:avLst/>
          </a:prstGeom>
          <a:solidFill>
            <a:srgbClr val="FBF1DF"/>
          </a:solidFill>
          <a:ln w="15875">
            <a:solidFill>
              <a:srgbClr val="E8A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53528" y="3758184"/>
            <a:ext cx="357530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8A33D"/>
                </a:solidFill>
                <a:latin typeface="Calibri"/>
              </a:rPr>
              <a:t>VÍ DỤ XUYÊN SUỐT</a:t>
            </a:r>
            <a:r>
              <a:rPr sz="1150" b="1" i="0">
                <a:solidFill>
                  <a:srgbClr val="202C44"/>
                </a:solidFill>
                <a:latin typeface="Calibri"/>
              </a:rPr>
              <a:t>  Ví dụ (USA, Sanction)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53528" y="4178808"/>
            <a:ext cx="3575303" cy="1481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202C44"/>
                </a:solidFill>
                <a:latin typeface="Calibri"/>
              </a:rPr>
              <a:t>S_embed: Russia 2.40 (#1), China 2.30, Iran 2.10 (#3), N.Korea 1.50.</a:t>
            </a:r>
          </a:p>
          <a:p>
            <a:pPr algn="l"/>
            <a:r>
              <a:rPr sz="1250" b="1" i="0">
                <a:solidFill>
                  <a:srgbClr val="E8A33D"/>
                </a:solidFill>
                <a:latin typeface="Calibri"/>
              </a:rPr>
              <a:t>Iran đúng nhưng bị tụt do thiên lệch phổ biến.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10896"/>
            <a:ext cx="109728" cy="548640"/>
          </a:xfrm>
          <a:prstGeom prst="rect">
            <a:avLst/>
          </a:prstGeom>
          <a:solidFill>
            <a:srgbClr val="12A8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9260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12A89D"/>
                </a:solidFill>
                <a:latin typeface="Calibri"/>
              </a:rPr>
              <a:t>PHẦN 3 · DEPTH · THÀNH PHẦN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30352"/>
            <a:ext cx="1106424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202C44"/>
                </a:solidFill>
                <a:latin typeface="Georgia"/>
              </a:rPr>
              <a:t>Head B — Path reasoner (NBFNet / RED-GNN)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463040"/>
            <a:ext cx="6126480" cy="2468880"/>
          </a:xfrm>
          <a:prstGeom prst="roundRect">
            <a:avLst/>
          </a:prstGeom>
          <a:solidFill>
            <a:srgbClr val="0E1A33"/>
          </a:solidFill>
          <a:ln w="12700">
            <a:solidFill>
              <a:srgbClr val="0E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591056"/>
            <a:ext cx="5760720" cy="22494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 i="0">
                <a:solidFill>
                  <a:srgbClr val="E8A33D"/>
                </a:solidFill>
                <a:latin typeface="Calibri"/>
              </a:rPr>
              <a:t>Lan truyền có điều kiện từ subject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CADCFC"/>
                </a:solidFill>
                <a:latin typeface="Consolas"/>
              </a:rPr>
              <a:t>boundary:  h_v^(0) = 1[v=s] · W_b·emb_rel[r]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CADCFC"/>
                </a:solidFill>
                <a:latin typeface="Consolas"/>
              </a:rPr>
              <a:t/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CADCFC"/>
                </a:solidFill>
                <a:latin typeface="Consolas"/>
              </a:rPr>
              <a:t>lan truyền l=1..L: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CADCFC"/>
                </a:solidFill>
                <a:latin typeface="Consolas"/>
              </a:rPr>
              <a:t> agg_v = (1/deg_v) Σ_(u→v) h_u^(l-1) ⊙ W_r·emb_rel[rel]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CADCFC"/>
                </a:solidFill>
                <a:latin typeface="Consolas"/>
              </a:rPr>
              <a:t> h_v^(l) = ReLU( W_u·[agg_v ; h_v^(l-1)] ) + h_v^(0)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CADCFC"/>
                </a:solidFill>
                <a:latin typeface="Consolas"/>
              </a:rPr>
              <a:t/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CADCFC"/>
                </a:solidFill>
                <a:latin typeface="Consolas"/>
              </a:rPr>
              <a:t>điểm:  S_path[o] = w_out · h_o^(L)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114800"/>
            <a:ext cx="61264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 i="0">
                <a:solidFill>
                  <a:srgbClr val="12A89D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202C44"/>
                </a:solidFill>
                <a:latin typeface="Calibri"/>
              </a:rPr>
              <a:t>Chỉ node s “bật” nhãn ban đầu theo quan hệ truy vấn r.</a:t>
            </a:r>
          </a:p>
          <a:p>
            <a:pPr algn="l">
              <a:spcAft>
                <a:spcPts val="700"/>
              </a:spcAft>
            </a:pPr>
            <a:r>
              <a:rPr sz="1300" b="1" i="0">
                <a:solidFill>
                  <a:srgbClr val="12A89D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202C44"/>
                </a:solidFill>
                <a:latin typeface="Calibri"/>
              </a:rPr>
              <a:t>Mỗi hop truyền tin dọc cạnh, trọng số theo quan hệ.</a:t>
            </a:r>
          </a:p>
          <a:p>
            <a:pPr algn="l">
              <a:spcAft>
                <a:spcPts val="700"/>
              </a:spcAft>
            </a:pPr>
            <a:r>
              <a:rPr sz="1300" b="1" i="0">
                <a:solidFill>
                  <a:srgbClr val="12A89D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202C44"/>
                </a:solidFill>
                <a:latin typeface="Calibri"/>
              </a:rPr>
              <a:t>Chỉ dùng emb_rel → INDUCTIVE; rất nhẹ (dim=32, L=2).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7863840" y="1874519"/>
            <a:ext cx="1554480" cy="502921"/>
          </a:xfrm>
          <a:prstGeom prst="line">
            <a:avLst/>
          </a:prstGeom>
          <a:ln w="22860">
            <a:solidFill>
              <a:srgbClr val="12A89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863840" y="2377440"/>
            <a:ext cx="1554480" cy="502920"/>
          </a:xfrm>
          <a:prstGeom prst="line">
            <a:avLst/>
          </a:prstGeom>
          <a:ln w="22860">
            <a:solidFill>
              <a:srgbClr val="12A89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418320" y="1874519"/>
            <a:ext cx="1554480" cy="502921"/>
          </a:xfrm>
          <a:prstGeom prst="line">
            <a:avLst/>
          </a:prstGeom>
          <a:ln w="22860">
            <a:solidFill>
              <a:srgbClr val="12A89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9418320" y="2377440"/>
            <a:ext cx="1554480" cy="502920"/>
          </a:xfrm>
          <a:prstGeom prst="line">
            <a:avLst/>
          </a:prstGeom>
          <a:ln w="22860">
            <a:solidFill>
              <a:srgbClr val="12A89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7507223" y="2020824"/>
            <a:ext cx="713232" cy="713232"/>
          </a:xfrm>
          <a:prstGeom prst="ellipse">
            <a:avLst/>
          </a:prstGeom>
          <a:solidFill>
            <a:srgbClr val="E8A33D"/>
          </a:solidFill>
          <a:ln w="19050">
            <a:solidFill>
              <a:srgbClr val="E8A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07223" y="2020824"/>
            <a:ext cx="713232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14213D"/>
                </a:solidFill>
                <a:latin typeface="Calibri"/>
              </a:rPr>
              <a:t>USA</a:t>
            </a:r>
          </a:p>
        </p:txBody>
      </p:sp>
      <p:sp>
        <p:nvSpPr>
          <p:cNvPr id="15" name="Oval 14"/>
          <p:cNvSpPr/>
          <p:nvPr/>
        </p:nvSpPr>
        <p:spPr>
          <a:xfrm>
            <a:off x="9089136" y="1545336"/>
            <a:ext cx="658368" cy="65836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2A8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89136" y="1545336"/>
            <a:ext cx="65836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12A89D"/>
                </a:solidFill>
                <a:latin typeface="Calibri"/>
              </a:rPr>
              <a:t>Israel</a:t>
            </a:r>
          </a:p>
        </p:txBody>
      </p:sp>
      <p:sp>
        <p:nvSpPr>
          <p:cNvPr id="17" name="Oval 16"/>
          <p:cNvSpPr/>
          <p:nvPr/>
        </p:nvSpPr>
        <p:spPr>
          <a:xfrm>
            <a:off x="9089136" y="2551176"/>
            <a:ext cx="658368" cy="65836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2A8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89136" y="2551176"/>
            <a:ext cx="65836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12A89D"/>
                </a:solidFill>
                <a:latin typeface="Calibri"/>
              </a:rPr>
              <a:t>IAEA</a:t>
            </a:r>
          </a:p>
        </p:txBody>
      </p:sp>
      <p:sp>
        <p:nvSpPr>
          <p:cNvPr id="19" name="Oval 18"/>
          <p:cNvSpPr/>
          <p:nvPr/>
        </p:nvSpPr>
        <p:spPr>
          <a:xfrm>
            <a:off x="10597896" y="2002536"/>
            <a:ext cx="749808" cy="749808"/>
          </a:xfrm>
          <a:prstGeom prst="ellipse">
            <a:avLst/>
          </a:prstGeom>
          <a:solidFill>
            <a:srgbClr val="E8A33D"/>
          </a:solidFill>
          <a:ln w="19050">
            <a:solidFill>
              <a:srgbClr val="E8A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97896" y="2002536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14213D"/>
                </a:solidFill>
                <a:latin typeface="Calibri"/>
              </a:rPr>
              <a:t>Iran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086600" y="3429000"/>
            <a:ext cx="4343400" cy="2423160"/>
          </a:xfrm>
          <a:prstGeom prst="roundRect">
            <a:avLst/>
          </a:prstGeom>
          <a:solidFill>
            <a:srgbClr val="FBF1DF"/>
          </a:solidFill>
          <a:ln w="12700">
            <a:solidFill>
              <a:srgbClr val="E8A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69480" y="3566160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E8A33D"/>
                </a:solidFill>
                <a:latin typeface="Georgia"/>
              </a:rPr>
              <a:t>S_path (thô) → z-norm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40" y="4023360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2A89D"/>
                </a:solidFill>
                <a:latin typeface="Calibri"/>
              </a:rPr>
              <a:t>Iran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32520" y="4023360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2A89D"/>
                </a:solidFill>
                <a:latin typeface="Consolas"/>
              </a:rPr>
              <a:t>3.0 → z≈+2.6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06640" y="4443984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202C44"/>
                </a:solidFill>
                <a:latin typeface="Calibri"/>
              </a:rPr>
              <a:t>N.Korea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32520" y="4443984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202C44"/>
                </a:solidFill>
                <a:latin typeface="Consolas"/>
              </a:rPr>
              <a:t>1.0 → z≈+0.8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06640" y="4864608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202C44"/>
                </a:solidFill>
                <a:latin typeface="Calibri"/>
              </a:rPr>
              <a:t>Russia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32520" y="4864608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202C44"/>
                </a:solidFill>
                <a:latin typeface="Consolas"/>
              </a:rPr>
              <a:t>0 → z≈−0.1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06640" y="5285232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202C44"/>
                </a:solidFill>
                <a:latin typeface="Calibri"/>
              </a:rPr>
              <a:t>China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32520" y="5285232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202C44"/>
                </a:solidFill>
                <a:latin typeface="Consolas"/>
              </a:rPr>
              <a:t>0 → z≈−0.1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10896"/>
            <a:ext cx="109728" cy="54864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9260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E8A33D"/>
                </a:solidFill>
                <a:latin typeface="Calibri"/>
              </a:rPr>
              <a:t>PHẦN 3 · DEPTH · THÀNH PHẦN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30352"/>
            <a:ext cx="1106424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202C44"/>
                </a:solidFill>
                <a:latin typeface="Georgia"/>
              </a:rPr>
              <a:t>Fusion γ &amp; huấn luyện end-to-end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417320"/>
            <a:ext cx="10607040" cy="1005840"/>
          </a:xfrm>
          <a:prstGeom prst="roundRect">
            <a:avLst/>
          </a:prstGeom>
          <a:solidFill>
            <a:srgbClr val="0E1A33"/>
          </a:solidFill>
          <a:ln w="12700">
            <a:solidFill>
              <a:srgbClr val="0E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545336"/>
            <a:ext cx="1024128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 i="0">
                <a:solidFill>
                  <a:srgbClr val="E8A33D"/>
                </a:solidFill>
                <a:latin typeface="Calibri"/>
              </a:rPr>
              <a:t>Công thức hợp nhất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CADCFC"/>
                </a:solidFill>
                <a:latin typeface="Consolas"/>
              </a:rPr>
              <a:t>S = S_embed + γ · z(S_path),   z(x)=(x−μ_row)/σ_row,   γ ∈ ℝ học được (init 0)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697480"/>
            <a:ext cx="3456432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697480"/>
            <a:ext cx="3456432" cy="91440"/>
          </a:xfrm>
          <a:prstGeom prst="rect">
            <a:avLst/>
          </a:prstGeom>
          <a:solidFill>
            <a:srgbClr val="3B6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8" y="2880360"/>
            <a:ext cx="30540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02C44"/>
                </a:solidFill>
                <a:latin typeface="Georgia"/>
              </a:rPr>
              <a:t>γ khởi tạo 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3429000"/>
            <a:ext cx="3054096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6B7793"/>
                </a:solidFill>
                <a:latin typeface="Calibri"/>
              </a:rPr>
              <a:t>Lúc đầu S = S_embed = LogCL (sàn an toàn). γ chỉ lớn lên nếu nhánh đường giảm loss.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52544" y="2697480"/>
            <a:ext cx="3456432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2544" y="2697480"/>
            <a:ext cx="3456432" cy="91440"/>
          </a:xfrm>
          <a:prstGeom prst="rect">
            <a:avLst/>
          </a:prstGeom>
          <a:solidFill>
            <a:srgbClr val="12A8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3712" y="2880360"/>
            <a:ext cx="30540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02C44"/>
                </a:solidFill>
                <a:latin typeface="Georgia"/>
              </a:rPr>
              <a:t>Chuẩn hóa z()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3429000"/>
            <a:ext cx="3054096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6B7793"/>
                </a:solidFill>
                <a:latin typeface="Calibri"/>
              </a:rPr>
              <a:t>Đưa S_path về cùng thang với S_embed theo từng hàng, tránh một nhánh lấn át.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27848" y="2697480"/>
            <a:ext cx="3456432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27848" y="2697480"/>
            <a:ext cx="3456432" cy="9144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29016" y="2880360"/>
            <a:ext cx="30540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02C44"/>
                </a:solidFill>
                <a:latin typeface="Georgia"/>
              </a:rPr>
              <a:t>End-to-end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29016" y="3429000"/>
            <a:ext cx="3054096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6B7793"/>
                </a:solidFill>
                <a:latin typeface="Calibri"/>
              </a:rPr>
              <a:t>Backbone+2 head+γ học chung; Head B nhận gradient → tự thích nghi bù lỗi nhúng.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4800600"/>
            <a:ext cx="10607040" cy="1005840"/>
          </a:xfrm>
          <a:prstGeom prst="roundRect">
            <a:avLst/>
          </a:prstGeom>
          <a:solidFill>
            <a:srgbClr val="0E1A33"/>
          </a:solidFill>
          <a:ln w="12700">
            <a:solidFill>
              <a:srgbClr val="0E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4928616"/>
            <a:ext cx="1024128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 i="0">
                <a:solidFill>
                  <a:srgbClr val="E8A33D"/>
                </a:solidFill>
                <a:latin typeface="Calibri"/>
              </a:rPr>
              <a:t>Hàm mất mát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CADCFC"/>
                </a:solidFill>
                <a:latin typeface="Consolas"/>
              </a:rPr>
              <a:t>L = L_object (NLL) + L_contrastive + L_static  — tối ưu toàn bộ mô hình cùng một lượt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10896"/>
            <a:ext cx="109728" cy="54864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9260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E8A33D"/>
                </a:solidFill>
                <a:latin typeface="Calibri"/>
              </a:rPr>
              <a:t>PHẦN 3 · DEPTH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30352"/>
            <a:ext cx="1106424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202C44"/>
                </a:solidFill>
                <a:latin typeface="Georgia"/>
              </a:rPr>
              <a:t>Ví dụ end-to-end: hợp nhất đưa Iran lên #1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280160" y="1600200"/>
          <a:ext cx="96012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737360"/>
                <a:gridCol w="1737360"/>
                <a:gridCol w="2468880"/>
                <a:gridCol w="1280160"/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Ứng viên</a:t>
                      </a:r>
                    </a:p>
                  </a:txBody>
                  <a:tcPr anchor="ctr" marL="91440" marR="45720" marT="18288" marB="18288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S_embed</a:t>
                      </a:r>
                    </a:p>
                  </a:txBody>
                  <a:tcPr anchor="ctr" marL="91440" marR="45720" marT="18288" marB="18288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z(S_path)</a:t>
                      </a:r>
                    </a:p>
                  </a:txBody>
                  <a:tcPr anchor="ctr" marL="91440" marR="45720" marT="18288" marB="18288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S = S_embed + 0.2·z</a:t>
                      </a:r>
                    </a:p>
                  </a:txBody>
                  <a:tcPr anchor="ctr" marL="91440" marR="45720" marT="18288" marB="18288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Hạng</a:t>
                      </a:r>
                    </a:p>
                  </a:txBody>
                  <a:tcPr anchor="ctr" marL="91440" marR="45720" marT="18288" marB="18288">
                    <a:solidFill>
                      <a:srgbClr val="14213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202C44"/>
                          </a:solidFill>
                          <a:latin typeface="Calibri"/>
                        </a:rPr>
                        <a:t>Russia</a:t>
                      </a:r>
                    </a:p>
                  </a:txBody>
                  <a:tcPr anchor="ctr" marL="9144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202C44"/>
                          </a:solidFill>
                          <a:latin typeface="Consolas"/>
                        </a:rPr>
                        <a:t>2.40</a:t>
                      </a:r>
                    </a:p>
                  </a:txBody>
                  <a:tcPr anchor="ctr" marL="9144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202C44"/>
                          </a:solidFill>
                          <a:latin typeface="Consolas"/>
                        </a:rPr>
                        <a:t>−0.1</a:t>
                      </a:r>
                    </a:p>
                  </a:txBody>
                  <a:tcPr anchor="ctr" marL="9144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202C44"/>
                          </a:solidFill>
                          <a:latin typeface="Consolas"/>
                        </a:rPr>
                        <a:t>2.38</a:t>
                      </a:r>
                    </a:p>
                  </a:txBody>
                  <a:tcPr anchor="ctr" marL="9144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202C44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91440" marR="45720" marT="18288" marB="18288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202C44"/>
                          </a:solidFill>
                          <a:latin typeface="Calibri"/>
                        </a:rPr>
                        <a:t>China</a:t>
                      </a:r>
                    </a:p>
                  </a:txBody>
                  <a:tcPr anchor="ctr" marL="9144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202C44"/>
                          </a:solidFill>
                          <a:latin typeface="Consolas"/>
                        </a:rPr>
                        <a:t>2.30</a:t>
                      </a:r>
                    </a:p>
                  </a:txBody>
                  <a:tcPr anchor="ctr" marL="9144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202C44"/>
                          </a:solidFill>
                          <a:latin typeface="Consolas"/>
                        </a:rPr>
                        <a:t>−0.1</a:t>
                      </a:r>
                    </a:p>
                  </a:txBody>
                  <a:tcPr anchor="ctr" marL="9144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202C44"/>
                          </a:solidFill>
                          <a:latin typeface="Consolas"/>
                        </a:rPr>
                        <a:t>2.28</a:t>
                      </a:r>
                    </a:p>
                  </a:txBody>
                  <a:tcPr anchor="ctr" marL="9144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202C44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91440" marR="45720" marT="18288" marB="18288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14213D"/>
                          </a:solidFill>
                          <a:latin typeface="Calibri"/>
                        </a:rPr>
                        <a:t>Iran  (đúng)</a:t>
                      </a:r>
                    </a:p>
                  </a:txBody>
                  <a:tcPr anchor="ctr" marL="91440" marR="45720" marT="18288" marB="18288">
                    <a:solidFill>
                      <a:srgbClr val="E8A3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4213D"/>
                          </a:solidFill>
                          <a:latin typeface="Consolas"/>
                        </a:rPr>
                        <a:t>2.10</a:t>
                      </a:r>
                    </a:p>
                  </a:txBody>
                  <a:tcPr anchor="ctr" marL="91440" marR="45720" marT="18288" marB="18288">
                    <a:solidFill>
                      <a:srgbClr val="E8A3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4213D"/>
                          </a:solidFill>
                          <a:latin typeface="Consolas"/>
                        </a:rPr>
                        <a:t>+2.6</a:t>
                      </a:r>
                    </a:p>
                  </a:txBody>
                  <a:tcPr anchor="ctr" marL="91440" marR="45720" marT="18288" marB="18288">
                    <a:solidFill>
                      <a:srgbClr val="E8A3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4213D"/>
                          </a:solidFill>
                          <a:latin typeface="Consolas"/>
                        </a:rPr>
                        <a:t>2.62</a:t>
                      </a:r>
                    </a:p>
                  </a:txBody>
                  <a:tcPr anchor="ctr" marL="91440" marR="45720" marT="18288" marB="18288">
                    <a:solidFill>
                      <a:srgbClr val="E8A3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4213D"/>
                          </a:solidFill>
                          <a:latin typeface="Calibri"/>
                        </a:rPr>
                        <a:t>1 ✓</a:t>
                      </a:r>
                    </a:p>
                  </a:txBody>
                  <a:tcPr anchor="ctr" marL="91440" marR="45720" marT="18288" marB="18288">
                    <a:solidFill>
                      <a:srgbClr val="E8A33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202C44"/>
                          </a:solidFill>
                          <a:latin typeface="Calibri"/>
                        </a:rPr>
                        <a:t>N.Korea</a:t>
                      </a:r>
                    </a:p>
                  </a:txBody>
                  <a:tcPr anchor="ctr" marL="9144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202C44"/>
                          </a:solidFill>
                          <a:latin typeface="Consolas"/>
                        </a:rPr>
                        <a:t>1.50</a:t>
                      </a:r>
                    </a:p>
                  </a:txBody>
                  <a:tcPr anchor="ctr" marL="9144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202C44"/>
                          </a:solidFill>
                          <a:latin typeface="Consolas"/>
                        </a:rPr>
                        <a:t>+0.8</a:t>
                      </a:r>
                    </a:p>
                  </a:txBody>
                  <a:tcPr anchor="ctr" marL="9144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202C44"/>
                          </a:solidFill>
                          <a:latin typeface="Consolas"/>
                        </a:rPr>
                        <a:t>1.66</a:t>
                      </a:r>
                    </a:p>
                  </a:txBody>
                  <a:tcPr anchor="ctr" marL="9144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202C44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 marL="9144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280160" y="4617720"/>
            <a:ext cx="96012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02C44"/>
                </a:solidFill>
                <a:latin typeface="Calibri"/>
              </a:rPr>
              <a:t>Trước fusion: </a:t>
            </a:r>
            <a:r>
              <a:rPr sz="1350" b="0" i="0">
                <a:solidFill>
                  <a:srgbClr val="202C44"/>
                </a:solidFill>
                <a:latin typeface="Calibri"/>
              </a:rPr>
              <a:t>Iran #3 (nhúng thiên lệch Russia). </a:t>
            </a:r>
            <a:r>
              <a:rPr sz="1400" b="1" i="0">
                <a:solidFill>
                  <a:srgbClr val="E8A33D"/>
                </a:solidFill>
                <a:latin typeface="Calibri"/>
              </a:rPr>
              <a:t>Sau fusion: </a:t>
            </a:r>
            <a:r>
              <a:rPr sz="1350" b="0" i="0">
                <a:solidFill>
                  <a:srgbClr val="202C44"/>
                </a:solidFill>
                <a:latin typeface="Calibri"/>
              </a:rPr>
              <a:t>đường bơm +0.2·2.6=+0.52 cho Iran → Iran #1. </a:t>
            </a:r>
            <a:r>
              <a:rPr sz="1350" b="0" i="0">
                <a:solidFill>
                  <a:srgbClr val="6B7793"/>
                </a:solidFill>
                <a:latin typeface="Calibri"/>
              </a:rPr>
              <a:t>Russia/China không có đường nên gần như không đổi.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10896"/>
            <a:ext cx="109728" cy="54864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9260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E8A33D"/>
                </a:solidFill>
                <a:latin typeface="Calibri"/>
              </a:rPr>
              <a:t>PHẦN 3 · DEPTH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30352"/>
            <a:ext cx="1106424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202C44"/>
                </a:solidFill>
                <a:latin typeface="Georgia"/>
              </a:rPr>
              <a:t>Tích hợp ở mức code: nhúng path head vào LogCL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463040"/>
            <a:ext cx="6446520" cy="4343400"/>
          </a:xfrm>
          <a:prstGeom prst="roundRect">
            <a:avLst/>
          </a:prstGeom>
          <a:solidFill>
            <a:srgbClr val="0E1A33"/>
          </a:solidFill>
          <a:ln w="12700">
            <a:solidFill>
              <a:srgbClr val="0E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591056"/>
            <a:ext cx="6080759" cy="4123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 i="0">
                <a:solidFill>
                  <a:srgbClr val="E8A33D"/>
                </a:solidFill>
                <a:latin typeface="Calibri"/>
              </a:rPr>
              <a:t>Các sửa đổi chính trên mã nguồn LogCL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CADCFC"/>
                </a:solidFill>
                <a:latin typeface="Consolas"/>
              </a:rPr>
              <a:t># src/rrgcn.py  —  __init__()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CADCFC"/>
                </a:solidFill>
                <a:latin typeface="Consolas"/>
              </a:rPr>
              <a:t>self.emb_rel   = Embedding(2R, d)      # DÙNG CHUNG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CADCFC"/>
                </a:solidFill>
                <a:latin typeface="Consolas"/>
              </a:rPr>
              <a:t>self.path_head = PathHead(self.emb_rel,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CADCFC"/>
                </a:solidFill>
                <a:latin typeface="Consolas"/>
              </a:rPr>
              <a:t>                          dim=32, L=2) # nhánh đường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CADCFC"/>
                </a:solidFill>
                <a:latin typeface="Consolas"/>
              </a:rPr>
              <a:t>self.gamma     = Parameter(zeros(1))   # init 0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CADCFC"/>
                </a:solidFill>
                <a:latin typeface="Consolas"/>
              </a:rPr>
              <a:t/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CADCFC"/>
                </a:solidFill>
                <a:latin typeface="Consolas"/>
              </a:rPr>
              <a:t># get_loss()  &amp;  predict()  — trước softmax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CADCFC"/>
                </a:solidFill>
                <a:latin typeface="Consolas"/>
              </a:rPr>
              <a:t>S_embed = decoder_ob(H, emb_rel, query)   # [B, N] dày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CADCFC"/>
                </a:solidFill>
                <a:latin typeface="Consolas"/>
              </a:rPr>
              <a:t>S_path  = self.path_head(s, r, G_hist)    # [B, N] thưa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CADCFC"/>
                </a:solidFill>
                <a:latin typeface="Consolas"/>
              </a:rPr>
              <a:t>S       = S_embed + gamma * z_norm(S_path)  # FUSION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CADCFC"/>
                </a:solidFill>
                <a:latin typeface="Consolas"/>
              </a:rPr>
              <a:t>P       = softmax(S)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CADCFC"/>
                </a:solidFill>
                <a:latin typeface="Consolas"/>
              </a:rPr>
              <a:t>loss    = NLL(P, o) + L_cl + L_static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CADCFC"/>
                </a:solidFill>
                <a:latin typeface="Consolas"/>
              </a:rPr>
              <a:t>loss.backward()        # END-TO-END (KHÔNG freeze path)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0" y="1463040"/>
            <a:ext cx="40233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2A89D"/>
                </a:solidFill>
                <a:latin typeface="Georgia"/>
              </a:rPr>
              <a:t>PathHead làm gì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06640" y="1874519"/>
            <a:ext cx="4023360" cy="1874519"/>
          </a:xfrm>
          <a:prstGeom prst="roundRect">
            <a:avLst/>
          </a:prstGeom>
          <a:solidFill>
            <a:srgbClr val="0E1A33"/>
          </a:solidFill>
          <a:ln w="12700">
            <a:solidFill>
              <a:srgbClr val="0E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19" y="2002536"/>
            <a:ext cx="3657600" cy="165506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 i="0">
                <a:solidFill>
                  <a:srgbClr val="E8A33D"/>
                </a:solidFill>
                <a:latin typeface="Calibri"/>
              </a:rPr>
              <a:t>message passing (L=2)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CADCFC"/>
                </a:solidFill>
                <a:latin typeface="Consolas"/>
              </a:rPr>
              <a:t>h_v⁰ = 1[v=s]·W_b·R[r]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CADCFC"/>
                </a:solidFill>
                <a:latin typeface="Consolas"/>
              </a:rPr>
              <a:t>agg  = (1/deg)Σ h_u⊙W_r·R[rel]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CADCFC"/>
                </a:solidFill>
                <a:latin typeface="Consolas"/>
              </a:rPr>
              <a:t>h_v  = ReLU(W[agg;h_v]) + h_v⁰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CADCFC"/>
                </a:solidFill>
                <a:latin typeface="Consolas"/>
              </a:rPr>
              <a:t>S_path = w_out · h^L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0" y="3977639"/>
            <a:ext cx="402336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250" b="1" i="0">
                <a:solidFill>
                  <a:srgbClr val="12A89D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202C44"/>
                </a:solidFill>
                <a:latin typeface="Calibri"/>
              </a:rPr>
              <a:t>Chỉ dùng emb_rel → inductive.</a:t>
            </a:r>
          </a:p>
          <a:p>
            <a:pPr algn="l">
              <a:spcAft>
                <a:spcPts val="700"/>
              </a:spcAft>
            </a:pPr>
            <a:r>
              <a:rPr sz="1250" b="1" i="0">
                <a:solidFill>
                  <a:srgbClr val="12A89D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202C44"/>
                </a:solidFill>
                <a:latin typeface="Calibri"/>
              </a:rPr>
              <a:t>z_norm: chuẩn hóa theo hàng để cùng thang S_embed.</a:t>
            </a:r>
          </a:p>
          <a:p>
            <a:pPr algn="l">
              <a:spcAft>
                <a:spcPts val="700"/>
              </a:spcAft>
            </a:pPr>
            <a:r>
              <a:rPr sz="1250" b="1" i="0">
                <a:solidFill>
                  <a:srgbClr val="12A89D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202C44"/>
                </a:solidFill>
                <a:latin typeface="Calibri"/>
              </a:rPr>
              <a:t>Chunk batch theo snapshot (chặn bộ nhớ).</a:t>
            </a:r>
          </a:p>
          <a:p>
            <a:pPr algn="l">
              <a:spcAft>
                <a:spcPts val="700"/>
              </a:spcAft>
            </a:pPr>
            <a:r>
              <a:rPr sz="1250" b="1" i="0">
                <a:solidFill>
                  <a:srgbClr val="12A89D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202C44"/>
                </a:solidFill>
                <a:latin typeface="Calibri"/>
              </a:rPr>
              <a:t>γ học chung; &gt;0 nghĩa là path có ích.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10896"/>
            <a:ext cx="109728" cy="54864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9260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E8A33D"/>
                </a:solidFill>
                <a:latin typeface="Calibri"/>
              </a:rPr>
              <a:t>PHẦN 3 · DEPTH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30352"/>
            <a:ext cx="1106424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202C44"/>
                </a:solidFill>
                <a:latin typeface="Georgia"/>
              </a:rPr>
              <a:t>Ablation &amp; chi phí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45920"/>
            <a:ext cx="5486400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02C44"/>
                </a:solidFill>
                <a:latin typeface="Georgia"/>
              </a:rPr>
              <a:t>Ablation (MRR, ICEWS14)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2377440"/>
            <a:ext cx="5029200" cy="914400"/>
          </a:xfrm>
          <a:prstGeom prst="roundRect">
            <a:avLst/>
          </a:prstGeom>
          <a:solidFill>
            <a:srgbClr val="F4F6FB"/>
          </a:solidFill>
          <a:ln w="12700">
            <a:solidFill>
              <a:srgbClr val="D7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05840" y="2377440"/>
            <a:ext cx="82296" cy="914400"/>
          </a:xfrm>
          <a:prstGeom prst="rect">
            <a:avLst/>
          </a:prstGeom>
          <a:solidFill>
            <a:srgbClr val="3B6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2496312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202C44"/>
                </a:solidFill>
                <a:latin typeface="Calibri"/>
              </a:rPr>
              <a:t>γ = 0  (tắt nhánh đường)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88036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3B6FD4"/>
                </a:solidFill>
                <a:latin typeface="Calibri"/>
              </a:rPr>
              <a:t>= LogCL  ·  0.491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5840" y="3410712"/>
            <a:ext cx="5029200" cy="914400"/>
          </a:xfrm>
          <a:prstGeom prst="roundRect">
            <a:avLst/>
          </a:prstGeom>
          <a:solidFill>
            <a:srgbClr val="F4F6FB"/>
          </a:solidFill>
          <a:ln w="12700">
            <a:solidFill>
              <a:srgbClr val="D7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" y="3410712"/>
            <a:ext cx="82296" cy="9144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34440" y="3529584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202C44"/>
                </a:solidFill>
                <a:latin typeface="Calibri"/>
              </a:rPr>
              <a:t>DEPTH (bật path, γ học)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913632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8A33D"/>
                </a:solidFill>
                <a:latin typeface="Calibri"/>
              </a:rPr>
              <a:t>0.527   (+2.9 MRR)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5840" y="4443983"/>
            <a:ext cx="5029200" cy="914400"/>
          </a:xfrm>
          <a:prstGeom prst="roundRect">
            <a:avLst/>
          </a:prstGeom>
          <a:solidFill>
            <a:srgbClr val="F4F6FB"/>
          </a:solidFill>
          <a:ln w="12700">
            <a:solidFill>
              <a:srgbClr val="D7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05840" y="4443983"/>
            <a:ext cx="82296" cy="914400"/>
          </a:xfrm>
          <a:prstGeom prst="rect">
            <a:avLst/>
          </a:prstGeom>
          <a:solidFill>
            <a:srgbClr val="12A8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34440" y="4562855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202C44"/>
                </a:solidFill>
                <a:latin typeface="Calibri"/>
              </a:rPr>
              <a:t>→ Đóng góp của Head 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946903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2A89D"/>
                </a:solidFill>
                <a:latin typeface="Calibri"/>
              </a:rPr>
              <a:t>+2.9 MRR / +3.0 Hits@1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92240" y="1645920"/>
            <a:ext cx="4892040" cy="4023360"/>
          </a:xfrm>
          <a:prstGeom prst="roundRect">
            <a:avLst/>
          </a:prstGeom>
          <a:solidFill>
            <a:srgbClr val="FBF1DF"/>
          </a:solidFill>
          <a:ln w="12700">
            <a:solidFill>
              <a:srgbClr val="E8A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20840" y="1828800"/>
            <a:ext cx="44348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8A33D"/>
                </a:solidFill>
                <a:latin typeface="Georgia"/>
              </a:rPr>
              <a:t>Chi phí — gọn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2423160"/>
            <a:ext cx="44348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E8A33D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202C44"/>
                </a:solidFill>
                <a:latin typeface="Calibri"/>
              </a:rPr>
              <a:t>MỘT mô hình end-to-end (không 2 mô hình rời).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0840" y="3026664"/>
            <a:ext cx="44348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E8A33D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202C44"/>
                </a:solidFill>
                <a:latin typeface="Calibri"/>
              </a:rPr>
              <a:t>Head B rất nhẹ: path_dim=32, L=2.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3630168"/>
            <a:ext cx="44348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E8A33D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202C44"/>
                </a:solidFill>
                <a:latin typeface="Calibri"/>
              </a:rPr>
              <a:t>Dùng chung backbone &amp; emb_rel.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20840" y="4233672"/>
            <a:ext cx="44348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E8A33D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202C44"/>
                </a:solidFill>
                <a:latin typeface="Calibri"/>
              </a:rPr>
              <a:t>Không cần bước precompute / file ngoài.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20840" y="4837176"/>
            <a:ext cx="44348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E8A33D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202C44"/>
                </a:solidFill>
                <a:latin typeface="Calibri"/>
              </a:rPr>
              <a:t>γ chỉ là 1 vô hướng học được.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" y="2240280"/>
            <a:ext cx="868680" cy="868680"/>
          </a:xfrm>
          <a:prstGeom prst="ellipse">
            <a:avLst/>
          </a:prstGeom>
          <a:solidFill>
            <a:srgbClr val="12A8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40280"/>
            <a:ext cx="868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Georgia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5960" y="2194560"/>
            <a:ext cx="9509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Georgia"/>
              </a:rPr>
              <a:t>Vì sao tốt hơn &amp; Hiệu năng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0" y="3108960"/>
            <a:ext cx="2743200" cy="45720"/>
          </a:xfrm>
          <a:prstGeom prst="rect">
            <a:avLst/>
          </a:prstGeom>
          <a:solidFill>
            <a:srgbClr val="12A8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93392" y="3273552"/>
            <a:ext cx="9509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CADCFC"/>
                </a:solidFill>
                <a:latin typeface="Calibri"/>
              </a:rPr>
              <a:t>Lý do cơ chế + số liệu ICEWS14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10896"/>
            <a:ext cx="109728" cy="548640"/>
          </a:xfrm>
          <a:prstGeom prst="rect">
            <a:avLst/>
          </a:prstGeom>
          <a:solidFill>
            <a:srgbClr val="12A8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9260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12A89D"/>
                </a:solidFill>
                <a:latin typeface="Calibri"/>
              </a:rPr>
              <a:t>PHẦN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30352"/>
            <a:ext cx="1106424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202C44"/>
                </a:solidFill>
                <a:latin typeface="Georgia"/>
              </a:rPr>
              <a:t>Vì sao DEPTH thắng — phân tích kỹ thuật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417320"/>
            <a:ext cx="1060704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417320"/>
            <a:ext cx="91440" cy="777240"/>
          </a:xfrm>
          <a:prstGeom prst="rect">
            <a:avLst/>
          </a:prstGeom>
          <a:solidFill>
            <a:srgbClr val="3B6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05840" y="1581912"/>
            <a:ext cx="457200" cy="457200"/>
          </a:xfrm>
          <a:prstGeom prst="ellipse">
            <a:avLst/>
          </a:prstGeom>
          <a:solidFill>
            <a:srgbClr val="3B6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5819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1508760"/>
            <a:ext cx="29718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50" b="1" i="0">
                <a:solidFill>
                  <a:srgbClr val="202C44"/>
                </a:solidFill>
                <a:latin typeface="Georgia"/>
              </a:rPr>
              <a:t>Thiên kiến quy nạp bổ sung</a:t>
            </a:r>
          </a:p>
          <a:p>
            <a:pPr algn="l"/>
            <a:r>
              <a:rPr sz="1050" b="0" i="1">
                <a:solidFill>
                  <a:srgbClr val="3B6FD4"/>
                </a:solidFill>
                <a:latin typeface="Calibri"/>
              </a:rPr>
              <a:t>complementary inductive bias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1508760"/>
            <a:ext cx="65379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7793"/>
                </a:solidFill>
                <a:latin typeface="Calibri"/>
              </a:rPr>
              <a:t>Nhúng học quy luật phân phối/đồng xuất hiện; đường học cấu trúc tổ hợp đa-hop → phủ hai lớp quy luật khác nhau của TKG.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2295144"/>
            <a:ext cx="1060704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295144"/>
            <a:ext cx="91440" cy="777240"/>
          </a:xfrm>
          <a:prstGeom prst="rect">
            <a:avLst/>
          </a:prstGeom>
          <a:solidFill>
            <a:srgbClr val="12A8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05840" y="2459736"/>
            <a:ext cx="457200" cy="457200"/>
          </a:xfrm>
          <a:prstGeom prst="ellipse">
            <a:avLst/>
          </a:prstGeom>
          <a:solidFill>
            <a:srgbClr val="12A8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245973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2386584"/>
            <a:ext cx="29718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50" b="1" i="0">
                <a:solidFill>
                  <a:srgbClr val="202C44"/>
                </a:solidFill>
                <a:latin typeface="Georgia"/>
              </a:rPr>
              <a:t>Khử tương quan lỗi</a:t>
            </a:r>
          </a:p>
          <a:p>
            <a:pPr algn="l"/>
            <a:r>
              <a:rPr sz="1050" b="0" i="1">
                <a:solidFill>
                  <a:srgbClr val="12A89D"/>
                </a:solidFill>
                <a:latin typeface="Calibri"/>
              </a:rPr>
              <a:t>error decorrelation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2386584"/>
            <a:ext cx="65379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7793"/>
                </a:solidFill>
                <a:latin typeface="Calibri"/>
              </a:rPr>
              <a:t>Sai số hai nhánh gần độc lập → cộng điểm giảm phương sai dự đoán như ensemble, nhưng trong MỘT mô hình.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172968"/>
            <a:ext cx="1060704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" y="3172968"/>
            <a:ext cx="91440" cy="77724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5840" y="3337560"/>
            <a:ext cx="457200" cy="457200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333756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3264408"/>
            <a:ext cx="29718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50" b="1" i="0">
                <a:solidFill>
                  <a:srgbClr val="202C44"/>
                </a:solidFill>
                <a:latin typeface="Georgia"/>
              </a:rPr>
              <a:t>Học phần dư điều phối gradient</a:t>
            </a:r>
          </a:p>
          <a:p>
            <a:pPr algn="l"/>
            <a:r>
              <a:rPr sz="1050" b="0" i="1">
                <a:solidFill>
                  <a:srgbClr val="E8A33D"/>
                </a:solidFill>
                <a:latin typeface="Calibri"/>
              </a:rPr>
              <a:t>gradient-coupled residual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09160" y="3264408"/>
            <a:ext cx="65379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7793"/>
                </a:solidFill>
                <a:latin typeface="Calibri"/>
              </a:rPr>
              <a:t>γ init 0 + train end-to-end → path head được tối ưu để giải thích residual error của nhúng (kiểu boosting), bám các quan hệ hiếm.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4050791"/>
            <a:ext cx="1060704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77240" y="4050791"/>
            <a:ext cx="91440" cy="777240"/>
          </a:xfrm>
          <a:prstGeom prst="rect">
            <a:avLst/>
          </a:prstGeom>
          <a:solidFill>
            <a:srgbClr val="534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05840" y="4215383"/>
            <a:ext cx="457200" cy="457200"/>
          </a:xfrm>
          <a:prstGeom prst="ellipse">
            <a:avLst/>
          </a:prstGeom>
          <a:solidFill>
            <a:srgbClr val="534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" y="4215383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Georgia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45920" y="4142231"/>
            <a:ext cx="29718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50" b="1" i="0">
                <a:solidFill>
                  <a:srgbClr val="202C44"/>
                </a:solidFill>
                <a:latin typeface="Georgia"/>
              </a:rPr>
              <a:t>Chính quy hóa đa nhiệm</a:t>
            </a:r>
          </a:p>
          <a:p>
            <a:pPr algn="l"/>
            <a:r>
              <a:rPr sz="1050" b="0" i="1">
                <a:solidFill>
                  <a:srgbClr val="534AB7"/>
                </a:solidFill>
                <a:latin typeface="Calibri"/>
              </a:rPr>
              <a:t>multi-task regularization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9160" y="4142231"/>
            <a:ext cx="65379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7793"/>
                </a:solidFill>
                <a:latin typeface="Calibri"/>
              </a:rPr>
              <a:t>emb_rel chịu 2 mục tiêu (chấm điểm + định hướng đường) → đẩy embedding quan hệ về nghiệm tổng quát, giảm overfit.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7240" y="4928616"/>
            <a:ext cx="1060704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77240" y="4928616"/>
            <a:ext cx="91440" cy="777240"/>
          </a:xfrm>
          <a:prstGeom prst="rect">
            <a:avLst/>
          </a:prstGeom>
          <a:solidFill>
            <a:srgbClr val="993C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05840" y="5093207"/>
            <a:ext cx="457200" cy="457200"/>
          </a:xfrm>
          <a:prstGeom prst="ellipse">
            <a:avLst/>
          </a:prstGeom>
          <a:solidFill>
            <a:srgbClr val="993C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5840" y="509320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Georgia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45920" y="5020055"/>
            <a:ext cx="29718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50" b="1" i="0">
                <a:solidFill>
                  <a:srgbClr val="202C44"/>
                </a:solidFill>
                <a:latin typeface="Georgia"/>
              </a:rPr>
              <a:t>Bổ trợ precision–recall</a:t>
            </a:r>
          </a:p>
          <a:p>
            <a:pPr algn="l"/>
            <a:r>
              <a:rPr sz="1050" b="0" i="1">
                <a:solidFill>
                  <a:srgbClr val="993C1D"/>
                </a:solidFill>
                <a:latin typeface="Calibri"/>
              </a:rPr>
              <a:t>dense × sparse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09160" y="5020055"/>
            <a:ext cx="65379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7793"/>
                </a:solidFill>
                <a:latin typeface="Calibri"/>
              </a:rPr>
              <a:t>Nhúng: recall cao / precision thấp (dày, nhiễu). Đường: precision cao / recall thấp (thưa, chắc). z-norm+γ hiệu chỉnh độ tin → tăng cả Hits@1 lẫn MRR.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10896"/>
            <a:ext cx="109728" cy="54864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9260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E8A33D"/>
                </a:solidFill>
                <a:latin typeface="Calibri"/>
              </a:rPr>
              <a:t>PHẦN 4 · HIỆU NĂNG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30352"/>
            <a:ext cx="1106424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202C44"/>
                </a:solidFill>
                <a:latin typeface="Georgia"/>
              </a:rPr>
              <a:t>Kết quả trên ICEWS14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417320" y="1737360"/>
          <a:ext cx="932688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1554480"/>
                <a:gridCol w="1554480"/>
                <a:gridCol w="1554480"/>
                <a:gridCol w="1554480"/>
              </a:tblGrid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Mô hình</a:t>
                      </a:r>
                    </a:p>
                  </a:txBody>
                  <a:tcPr anchor="ctr" marL="91440" marR="54864" marT="18288" marB="18288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MRR</a:t>
                      </a:r>
                    </a:p>
                  </a:txBody>
                  <a:tcPr anchor="ctr" marL="91440" marR="54864" marT="18288" marB="18288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Hits@1</a:t>
                      </a:r>
                    </a:p>
                  </a:txBody>
                  <a:tcPr anchor="ctr" marL="91440" marR="54864" marT="18288" marB="18288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Hits@3</a:t>
                      </a:r>
                    </a:p>
                  </a:txBody>
                  <a:tcPr anchor="ctr" marL="91440" marR="54864" marT="18288" marB="18288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Hits@10</a:t>
                      </a:r>
                    </a:p>
                  </a:txBody>
                  <a:tcPr anchor="ctr" marL="91440" marR="54864" marT="18288" marB="18288">
                    <a:solidFill>
                      <a:srgbClr val="14213D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02C44"/>
                          </a:solidFill>
                          <a:latin typeface="Calibri"/>
                        </a:rPr>
                        <a:t>CognTKE (paper)</a:t>
                      </a:r>
                    </a:p>
                  </a:txBody>
                  <a:tcPr anchor="ctr" marL="91440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02C44"/>
                          </a:solidFill>
                          <a:latin typeface="Consolas"/>
                        </a:rPr>
                        <a:t>46.06</a:t>
                      </a:r>
                    </a:p>
                  </a:txBody>
                  <a:tcPr anchor="ctr" marL="91440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02C44"/>
                          </a:solidFill>
                          <a:latin typeface="Consolas"/>
                        </a:rPr>
                        <a:t>36.49</a:t>
                      </a:r>
                    </a:p>
                  </a:txBody>
                  <a:tcPr anchor="ctr" marL="91440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02C44"/>
                          </a:solidFill>
                          <a:latin typeface="Consolas"/>
                        </a:rPr>
                        <a:t>51.11</a:t>
                      </a:r>
                    </a:p>
                  </a:txBody>
                  <a:tcPr anchor="ctr" marL="91440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02C44"/>
                          </a:solidFill>
                          <a:latin typeface="Consolas"/>
                        </a:rPr>
                        <a:t>64.49</a:t>
                      </a:r>
                    </a:p>
                  </a:txBody>
                  <a:tcPr anchor="ctr" marL="91440" marR="54864" marT="18288" marB="18288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02C44"/>
                          </a:solidFill>
                          <a:latin typeface="Calibri"/>
                        </a:rPr>
                        <a:t>LogCL (paper)</a:t>
                      </a:r>
                    </a:p>
                  </a:txBody>
                  <a:tcPr anchor="ctr" marL="91440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02C44"/>
                          </a:solidFill>
                          <a:latin typeface="Consolas"/>
                        </a:rPr>
                        <a:t>48.87</a:t>
                      </a:r>
                    </a:p>
                  </a:txBody>
                  <a:tcPr anchor="ctr" marL="91440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02C44"/>
                          </a:solidFill>
                          <a:latin typeface="Consolas"/>
                        </a:rPr>
                        <a:t>37.76</a:t>
                      </a:r>
                    </a:p>
                  </a:txBody>
                  <a:tcPr anchor="ctr" marL="91440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02C44"/>
                          </a:solidFill>
                          <a:latin typeface="Consolas"/>
                        </a:rPr>
                        <a:t>54.71</a:t>
                      </a:r>
                    </a:p>
                  </a:txBody>
                  <a:tcPr anchor="ctr" marL="91440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02C44"/>
                          </a:solidFill>
                          <a:latin typeface="Consolas"/>
                        </a:rPr>
                        <a:t>70.26</a:t>
                      </a:r>
                    </a:p>
                  </a:txBody>
                  <a:tcPr anchor="ctr" marL="91440" marR="54864" marT="18288" marB="18288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4213D"/>
                          </a:solidFill>
                          <a:latin typeface="Calibri"/>
                        </a:rPr>
                        <a:t>DEPTH (đề xuất)</a:t>
                      </a:r>
                    </a:p>
                  </a:txBody>
                  <a:tcPr anchor="ctr" marL="91440" marR="54864" marT="18288" marB="18288">
                    <a:solidFill>
                      <a:srgbClr val="E8A3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4213D"/>
                          </a:solidFill>
                          <a:latin typeface="Consolas"/>
                        </a:rPr>
                        <a:t>52.72</a:t>
                      </a:r>
                    </a:p>
                  </a:txBody>
                  <a:tcPr anchor="ctr" marL="91440" marR="54864" marT="18288" marB="18288">
                    <a:solidFill>
                      <a:srgbClr val="E8A3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4213D"/>
                          </a:solidFill>
                          <a:latin typeface="Consolas"/>
                        </a:rPr>
                        <a:t>41.89</a:t>
                      </a:r>
                    </a:p>
                  </a:txBody>
                  <a:tcPr anchor="ctr" marL="91440" marR="54864" marT="18288" marB="18288">
                    <a:solidFill>
                      <a:srgbClr val="E8A3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4213D"/>
                          </a:solidFill>
                          <a:latin typeface="Consolas"/>
                        </a:rPr>
                        <a:t>58.61</a:t>
                      </a:r>
                    </a:p>
                  </a:txBody>
                  <a:tcPr anchor="ctr" marL="91440" marR="54864" marT="18288" marB="18288">
                    <a:solidFill>
                      <a:srgbClr val="E8A3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4213D"/>
                          </a:solidFill>
                          <a:latin typeface="Consolas"/>
                        </a:rPr>
                        <a:t>73.21</a:t>
                      </a:r>
                    </a:p>
                  </a:txBody>
                  <a:tcPr anchor="ctr" marL="91440" marR="54864" marT="18288" marB="18288">
                    <a:solidFill>
                      <a:srgbClr val="E8A33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CADCFC"/>
                          </a:solidFill>
                          <a:latin typeface="Calibri"/>
                        </a:rPr>
                        <a:t>Δ so với LogCL</a:t>
                      </a:r>
                    </a:p>
                  </a:txBody>
                  <a:tcPr anchor="ctr" marL="91440" marR="54864" marT="18288" marB="18288">
                    <a:solidFill>
                      <a:srgbClr val="1E2F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CADCFC"/>
                          </a:solidFill>
                          <a:latin typeface="Consolas"/>
                        </a:rPr>
                        <a:t>+3.85</a:t>
                      </a:r>
                    </a:p>
                  </a:txBody>
                  <a:tcPr anchor="ctr" marL="91440" marR="54864" marT="18288" marB="18288">
                    <a:solidFill>
                      <a:srgbClr val="1E2F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CADCFC"/>
                          </a:solidFill>
                          <a:latin typeface="Consolas"/>
                        </a:rPr>
                        <a:t>+4.13</a:t>
                      </a:r>
                    </a:p>
                  </a:txBody>
                  <a:tcPr anchor="ctr" marL="91440" marR="54864" marT="18288" marB="18288">
                    <a:solidFill>
                      <a:srgbClr val="1E2F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CADCFC"/>
                          </a:solidFill>
                          <a:latin typeface="Consolas"/>
                        </a:rPr>
                        <a:t>+3.90</a:t>
                      </a:r>
                    </a:p>
                  </a:txBody>
                  <a:tcPr anchor="ctr" marL="91440" marR="54864" marT="18288" marB="18288">
                    <a:solidFill>
                      <a:srgbClr val="1E2F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CADCFC"/>
                          </a:solidFill>
                          <a:latin typeface="Consolas"/>
                        </a:rPr>
                        <a:t>+2.95</a:t>
                      </a:r>
                    </a:p>
                  </a:txBody>
                  <a:tcPr anchor="ctr" marL="91440" marR="54864" marT="18288" marB="18288">
                    <a:solidFill>
                      <a:srgbClr val="1E2F5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CADCFC"/>
                          </a:solidFill>
                          <a:latin typeface="Calibri"/>
                        </a:rPr>
                        <a:t>Δ so với CognTKE</a:t>
                      </a:r>
                    </a:p>
                  </a:txBody>
                  <a:tcPr anchor="ctr" marL="91440" marR="54864" marT="18288" marB="18288">
                    <a:solidFill>
                      <a:srgbClr val="1E2F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CADCFC"/>
                          </a:solidFill>
                          <a:latin typeface="Consolas"/>
                        </a:rPr>
                        <a:t>+6.66</a:t>
                      </a:r>
                    </a:p>
                  </a:txBody>
                  <a:tcPr anchor="ctr" marL="91440" marR="54864" marT="18288" marB="18288">
                    <a:solidFill>
                      <a:srgbClr val="1E2F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CADCFC"/>
                          </a:solidFill>
                          <a:latin typeface="Consolas"/>
                        </a:rPr>
                        <a:t>+5.40</a:t>
                      </a:r>
                    </a:p>
                  </a:txBody>
                  <a:tcPr anchor="ctr" marL="91440" marR="54864" marT="18288" marB="18288">
                    <a:solidFill>
                      <a:srgbClr val="1E2F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CADCFC"/>
                          </a:solidFill>
                          <a:latin typeface="Consolas"/>
                        </a:rPr>
                        <a:t>+7.50</a:t>
                      </a:r>
                    </a:p>
                  </a:txBody>
                  <a:tcPr anchor="ctr" marL="91440" marR="54864" marT="18288" marB="18288">
                    <a:solidFill>
                      <a:srgbClr val="1E2F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CADCFC"/>
                          </a:solidFill>
                          <a:latin typeface="Consolas"/>
                        </a:rPr>
                        <a:t>+8.72</a:t>
                      </a:r>
                    </a:p>
                  </a:txBody>
                  <a:tcPr anchor="ctr" marL="91440" marR="54864" marT="18288" marB="18288">
                    <a:solidFill>
                      <a:srgbClr val="1E2F5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417320" y="5257800"/>
            <a:ext cx="93268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8A33D"/>
                </a:solidFill>
                <a:latin typeface="Calibri"/>
              </a:rPr>
              <a:t>DEPTH thắng CẢ 4 chỉ số. </a:t>
            </a:r>
            <a:r>
              <a:rPr sz="1300" b="0" i="0">
                <a:solidFill>
                  <a:srgbClr val="6B7793"/>
                </a:solidFill>
                <a:latin typeface="Calibri"/>
              </a:rPr>
              <a:t>Hai paper được tự tái lập trên cùng code/eval (LogCL Hits@10≈70.3=70.26; CognTKE=64.49) → cùng hệ quy chiếu.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Georgia"/>
              </a:rPr>
              <a:t>Kết luận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691640"/>
            <a:ext cx="164592" cy="8412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164592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E8A33D"/>
                </a:solidFill>
                <a:latin typeface="Georgia"/>
              </a:rPr>
              <a:t>Tốt hơn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1031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0" i="0">
                <a:solidFill>
                  <a:srgbClr val="CADCFC"/>
                </a:solidFill>
                <a:latin typeface="Calibri"/>
              </a:rPr>
              <a:t>Thắng cả 4 chỉ số: vượt CognTKE +6.66 và LogCL +3.85 MRR.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788920"/>
            <a:ext cx="164592" cy="841248"/>
          </a:xfrm>
          <a:prstGeom prst="rect">
            <a:avLst/>
          </a:prstGeom>
          <a:solidFill>
            <a:srgbClr val="12A8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74320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12A89D"/>
                </a:solidFill>
                <a:latin typeface="Georgia"/>
              </a:rPr>
              <a:t>Gọn hơn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20040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0" i="0">
                <a:solidFill>
                  <a:srgbClr val="CADCFC"/>
                </a:solidFill>
                <a:latin typeface="Calibri"/>
              </a:rPr>
              <a:t>MỘT mô hình huấn luyện end-to-end, không cần hai mô hình rời.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886200"/>
            <a:ext cx="164592" cy="841248"/>
          </a:xfrm>
          <a:prstGeom prst="rect">
            <a:avLst/>
          </a:prstGeom>
          <a:solidFill>
            <a:srgbClr val="3B6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84048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3B6FD4"/>
                </a:solidFill>
                <a:latin typeface="Georgia"/>
              </a:rPr>
              <a:t>Tinh tế hơn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42976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0" i="0">
                <a:solidFill>
                  <a:srgbClr val="CADCFC"/>
                </a:solidFill>
                <a:latin typeface="Calibri"/>
              </a:rPr>
              <a:t>1 backbone chung · 2 head trực giao · fusion γ học được.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5120640"/>
            <a:ext cx="10515600" cy="960120"/>
          </a:xfrm>
          <a:prstGeom prst="roundRect">
            <a:avLst/>
          </a:prstGeom>
          <a:solidFill>
            <a:srgbClr val="1E2F55"/>
          </a:solidFill>
          <a:ln w="12700">
            <a:solidFill>
              <a:srgbClr val="1E2F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5285232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E8A33D"/>
                </a:solidFill>
                <a:latin typeface="Calibri"/>
              </a:rPr>
              <a:t>Lưu ý trung thực: </a:t>
            </a:r>
            <a:r>
              <a:rPr sz="1350" b="0" i="0">
                <a:solidFill>
                  <a:srgbClr val="CADCFC"/>
                </a:solidFill>
                <a:latin typeface="Calibri"/>
              </a:rPr>
              <a:t>Head B inductive, nhưng Head A dùng embedding thực thể nên TỔNG THỂ vẫn transductive — đúng thiết lập chuẩn ICEWS14.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